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bg-p1-luor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29264\Desktop\思政课ppt\素材-v2\images\plate-ink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2194560" y="2788920"/>
            <a:ext cx="7772400" cy="228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66928"/>
            <a:ext cx="5486400" cy="320040"/>
          </a:xfrm>
          <a:prstGeom prst="rect">
            <a:avLst/>
          </a:prstGeom>
          <a:solidFill>
            <a:srgbClr val="2B2F33">
              <a:alpha val="4500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F4EF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思政课 · 我来讲 ｜ 红色名言解读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280160" y="324612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spc="1000" kern="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1280160" y="4526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中共中央社会部机要科译电员　董健民（1923—1946）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汇报人：XXX　｜　2026 年 10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bg-p2-chuanxian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29264\Desktop\思政课ppt\素材-v2\images\scrim-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7640"/>
            <a:ext cx="12191695" cy="2880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 年 11 月 7 日　·　渤海湾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一艘从烟台开往大连的木帆船，在渤海湾被国民党军舰截停。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40080" y="5001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船上有中共中央社会部的一对年轻夫妇、一个两岁的孩子，和一批绝密密码。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40080" y="53858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军警要登船。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0080" y="57698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他们把密件紧抱在胸前，转身跃入大海。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一家三口，无一生还；密件，一页未失。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METHOD · 阅读方法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怎么读这 47 个字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这是她 1942 年写下的结婚誓词 ——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0080" y="2715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为了实现共产主义理想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32826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5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080" y="38496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20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今天，我们从最后一句话讲起。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19672" y="167335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187452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sx="100000" sy="100000" kx="0" ky="0" algn="bl" rotWithShape="0" blurRad="88900" dist="38100" dir="2700000">
              <a:srgbClr val="1C1A16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56248" y="2002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0" y="19751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千百万人</a:t>
            </a:r>
            <a:endParaRPr lang="en-US" sz="1800" dirty="0"/>
          </a:p>
        </p:txBody>
      </p:sp>
      <p:pic>
        <p:nvPicPr>
          <p:cNvPr id="15" name="Image 1" descr="C:\Users\29264\Desktop\思政课ppt\素材-v2\assets\ico-users-B445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1965960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19672" y="2660904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  <p:sp>
        <p:nvSpPr>
          <p:cNvPr id="17" name="Shape 13"/>
          <p:cNvSpPr/>
          <p:nvPr/>
        </p:nvSpPr>
        <p:spPr>
          <a:xfrm>
            <a:off x="6263640" y="286207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sx="100000" sy="100000" kx="0" ky="0" algn="bl" rotWithShape="0" blurRad="88900" dist="38100" dir="2700000">
              <a:srgbClr val="1C1A16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556248" y="29900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二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98080" y="2962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　现</a:t>
            </a:r>
            <a:endParaRPr lang="en-US" sz="1800" dirty="0"/>
          </a:p>
        </p:txBody>
      </p:sp>
      <p:pic>
        <p:nvPicPr>
          <p:cNvPr id="20" name="Image 2" descr="C:\Users\29264\Desktop\思政课ppt\素材-v2\assets\ico-target-B4452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953512"/>
            <a:ext cx="502920" cy="5029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19672" y="3648456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E2D9C6"/>
          </a:solidFill>
          <a:ln/>
        </p:spPr>
      </p:sp>
      <p:sp>
        <p:nvSpPr>
          <p:cNvPr id="22" name="Shape 17"/>
          <p:cNvSpPr/>
          <p:nvPr/>
        </p:nvSpPr>
        <p:spPr>
          <a:xfrm>
            <a:off x="6263640" y="384962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E2D9C6"/>
          </a:solidFill>
          <a:ln w="9525">
            <a:solidFill>
              <a:srgbClr val="C9C2B6"/>
            </a:solidFill>
            <a:prstDash val="solid"/>
          </a:ln>
          <a:effectLst>
            <a:outerShdw sx="100000" sy="100000" kx="0" ky="0" algn="bl" rotWithShape="0" blurRad="88900" dist="38100" dir="2700000">
              <a:srgbClr val="1C1A16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56248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三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498080" y="3950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宁可……也绝不</a:t>
            </a:r>
            <a:endParaRPr lang="en-US" sz="1800" dirty="0"/>
          </a:p>
        </p:txBody>
      </p:sp>
      <p:pic>
        <p:nvPicPr>
          <p:cNvPr id="25" name="Image 3" descr="C:\Users\29264\Desktop\思政课ppt\素材-v2\assets\ico-heart-B4452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3941064"/>
            <a:ext cx="502920" cy="5029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09944" y="46360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963522"/>
          </a:solidFill>
          <a:ln/>
        </p:spPr>
      </p:sp>
      <p:sp>
        <p:nvSpPr>
          <p:cNvPr id="27" name="Shape 21"/>
          <p:cNvSpPr/>
          <p:nvPr/>
        </p:nvSpPr>
        <p:spPr>
          <a:xfrm rot="-60000">
            <a:off x="6153912" y="483717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B4452F"/>
          </a:solidFill>
          <a:ln w="9525">
            <a:solidFill>
              <a:srgbClr val="963522"/>
            </a:solidFill>
            <a:prstDash val="solid"/>
          </a:ln>
          <a:effectLst>
            <a:outerShdw sx="100000" sy="100000" kx="0" ky="0" algn="bl" rotWithShape="0" blurRad="88900" dist="63500" dir="2700000">
              <a:srgbClr val="1C1A16">
                <a:alpha val="34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6446520" y="4965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四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88352" y="4937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共存亡</a:t>
            </a:r>
            <a:endParaRPr lang="en-US" sz="1800" dirty="0"/>
          </a:p>
        </p:txBody>
      </p:sp>
      <p:pic>
        <p:nvPicPr>
          <p:cNvPr id="30" name="Image 4" descr="C:\Users\29264\Desktop\思政课ppt\素材-v2\assets\ico-lock-F4EF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4" y="4928616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一词一证 —— 每章只挑一个词，用真实事迹把它坐实。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1939 0800 0002 0001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　·　CH.1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千百万人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40080" y="1298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「为了千百万人能够得到解放」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913736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13736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444088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4408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974440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4440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504792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479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35144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35144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万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565496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65496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095848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584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6200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6200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够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156552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5655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686904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6904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8217256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17256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解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747608" y="1965960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47608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3444088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4408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3974440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7444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4504792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04792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5035144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3514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5565496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6549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6095848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9584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6626200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620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7156552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56552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义</a:t>
            </a:r>
            <a:endParaRPr lang="en-US" sz="1700" dirty="0"/>
          </a:p>
        </p:txBody>
      </p:sp>
      <p:sp>
        <p:nvSpPr>
          <p:cNvPr id="46" name="Shape 43"/>
          <p:cNvSpPr/>
          <p:nvPr/>
        </p:nvSpPr>
        <p:spPr>
          <a:xfrm>
            <a:off x="7686904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8690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8217256" y="2551176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1725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想</a:t>
            </a:r>
            <a:endParaRPr lang="en-US" sz="1700" dirty="0"/>
          </a:p>
        </p:txBody>
      </p:sp>
      <p:sp>
        <p:nvSpPr>
          <p:cNvPr id="50" name="Shape 47"/>
          <p:cNvSpPr/>
          <p:nvPr/>
        </p:nvSpPr>
        <p:spPr>
          <a:xfrm>
            <a:off x="132268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32268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</a:t>
            </a:r>
            <a:endParaRPr lang="en-US" sz="1700" dirty="0"/>
          </a:p>
        </p:txBody>
      </p:sp>
      <p:sp>
        <p:nvSpPr>
          <p:cNvPr id="52" name="Shape 49"/>
          <p:cNvSpPr/>
          <p:nvPr/>
        </p:nvSpPr>
        <p:spPr>
          <a:xfrm>
            <a:off x="185303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85303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</a:t>
            </a:r>
            <a:endParaRPr lang="en-US" sz="1700" dirty="0"/>
          </a:p>
        </p:txBody>
      </p:sp>
      <p:sp>
        <p:nvSpPr>
          <p:cNvPr id="54" name="Shape 51"/>
          <p:cNvSpPr/>
          <p:nvPr/>
        </p:nvSpPr>
        <p:spPr>
          <a:xfrm>
            <a:off x="238338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38338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牺</a:t>
            </a:r>
            <a:endParaRPr lang="en-US" sz="1700" dirty="0"/>
          </a:p>
        </p:txBody>
      </p:sp>
      <p:sp>
        <p:nvSpPr>
          <p:cNvPr id="56" name="Shape 53"/>
          <p:cNvSpPr/>
          <p:nvPr/>
        </p:nvSpPr>
        <p:spPr>
          <a:xfrm>
            <a:off x="2913736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91373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牲</a:t>
            </a:r>
            <a:endParaRPr lang="en-US" sz="1700" dirty="0"/>
          </a:p>
        </p:txBody>
      </p:sp>
      <p:sp>
        <p:nvSpPr>
          <p:cNvPr id="58" name="Shape 55"/>
          <p:cNvSpPr/>
          <p:nvPr/>
        </p:nvSpPr>
        <p:spPr>
          <a:xfrm>
            <a:off x="3444088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44408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</a:t>
            </a:r>
            <a:endParaRPr lang="en-US" sz="1700" dirty="0"/>
          </a:p>
        </p:txBody>
      </p:sp>
      <p:sp>
        <p:nvSpPr>
          <p:cNvPr id="60" name="Shape 57"/>
          <p:cNvSpPr/>
          <p:nvPr/>
        </p:nvSpPr>
        <p:spPr>
          <a:xfrm>
            <a:off x="397444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97444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己</a:t>
            </a:r>
            <a:endParaRPr lang="en-US" sz="1700" dirty="0"/>
          </a:p>
        </p:txBody>
      </p:sp>
      <p:sp>
        <p:nvSpPr>
          <p:cNvPr id="62" name="Shape 59"/>
          <p:cNvSpPr/>
          <p:nvPr/>
        </p:nvSpPr>
        <p:spPr>
          <a:xfrm>
            <a:off x="450479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50479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700" dirty="0"/>
          </a:p>
        </p:txBody>
      </p:sp>
      <p:sp>
        <p:nvSpPr>
          <p:cNvPr id="64" name="Shape 61"/>
          <p:cNvSpPr/>
          <p:nvPr/>
        </p:nvSpPr>
        <p:spPr>
          <a:xfrm>
            <a:off x="503514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3514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性</a:t>
            </a:r>
            <a:endParaRPr lang="en-US" sz="1700" dirty="0"/>
          </a:p>
        </p:txBody>
      </p:sp>
      <p:sp>
        <p:nvSpPr>
          <p:cNvPr id="66" name="Shape 63"/>
          <p:cNvSpPr/>
          <p:nvPr/>
        </p:nvSpPr>
        <p:spPr>
          <a:xfrm>
            <a:off x="5565496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56549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命</a:t>
            </a:r>
            <a:endParaRPr lang="en-US" sz="1700" dirty="0"/>
          </a:p>
        </p:txBody>
      </p:sp>
      <p:sp>
        <p:nvSpPr>
          <p:cNvPr id="68" name="Shape 65"/>
          <p:cNvSpPr/>
          <p:nvPr/>
        </p:nvSpPr>
        <p:spPr>
          <a:xfrm>
            <a:off x="6095848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09584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662620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62620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绝</a:t>
            </a:r>
            <a:endParaRPr lang="en-US" sz="1700" dirty="0"/>
          </a:p>
        </p:txBody>
      </p:sp>
      <p:sp>
        <p:nvSpPr>
          <p:cNvPr id="72" name="Shape 69"/>
          <p:cNvSpPr/>
          <p:nvPr/>
        </p:nvSpPr>
        <p:spPr>
          <a:xfrm>
            <a:off x="715655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15655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endParaRPr lang="en-US" sz="1700" dirty="0"/>
          </a:p>
        </p:txBody>
      </p:sp>
      <p:sp>
        <p:nvSpPr>
          <p:cNvPr id="74" name="Shape 71"/>
          <p:cNvSpPr/>
          <p:nvPr/>
        </p:nvSpPr>
        <p:spPr>
          <a:xfrm>
            <a:off x="768690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68690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泄</a:t>
            </a:r>
            <a:endParaRPr lang="en-US" sz="1700" dirty="0"/>
          </a:p>
        </p:txBody>
      </p:sp>
      <p:sp>
        <p:nvSpPr>
          <p:cNvPr id="76" name="Shape 73"/>
          <p:cNvSpPr/>
          <p:nvPr/>
        </p:nvSpPr>
        <p:spPr>
          <a:xfrm>
            <a:off x="8217256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21725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露</a:t>
            </a:r>
            <a:endParaRPr lang="en-US" sz="1700" dirty="0"/>
          </a:p>
        </p:txBody>
      </p:sp>
      <p:sp>
        <p:nvSpPr>
          <p:cNvPr id="78" name="Shape 75"/>
          <p:cNvSpPr/>
          <p:nvPr/>
        </p:nvSpPr>
        <p:spPr>
          <a:xfrm>
            <a:off x="8747608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74760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党</a:t>
            </a:r>
            <a:endParaRPr lang="en-US" sz="1700" dirty="0"/>
          </a:p>
        </p:txBody>
      </p:sp>
      <p:sp>
        <p:nvSpPr>
          <p:cNvPr id="80" name="Shape 77"/>
          <p:cNvSpPr/>
          <p:nvPr/>
        </p:nvSpPr>
        <p:spPr>
          <a:xfrm>
            <a:off x="9277960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277960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700" dirty="0"/>
          </a:p>
        </p:txBody>
      </p:sp>
      <p:sp>
        <p:nvSpPr>
          <p:cNvPr id="82" name="Shape 79"/>
          <p:cNvSpPr/>
          <p:nvPr/>
        </p:nvSpPr>
        <p:spPr>
          <a:xfrm>
            <a:off x="9808312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808312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机</a:t>
            </a:r>
            <a:endParaRPr lang="en-US" sz="1700" dirty="0"/>
          </a:p>
        </p:txBody>
      </p:sp>
      <p:sp>
        <p:nvSpPr>
          <p:cNvPr id="84" name="Shape 81"/>
          <p:cNvSpPr/>
          <p:nvPr/>
        </p:nvSpPr>
        <p:spPr>
          <a:xfrm>
            <a:off x="10338664" y="3136392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338664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</a:t>
            </a:r>
            <a:endParaRPr lang="en-US" sz="1700" dirty="0"/>
          </a:p>
        </p:txBody>
      </p:sp>
      <p:sp>
        <p:nvSpPr>
          <p:cNvPr id="86" name="Shape 83"/>
          <p:cNvSpPr/>
          <p:nvPr/>
        </p:nvSpPr>
        <p:spPr>
          <a:xfrm>
            <a:off x="4239616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39616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</a:t>
            </a:r>
            <a:endParaRPr lang="en-US" sz="1700" dirty="0"/>
          </a:p>
        </p:txBody>
      </p:sp>
      <p:sp>
        <p:nvSpPr>
          <p:cNvPr id="88" name="Shape 85"/>
          <p:cNvSpPr/>
          <p:nvPr/>
        </p:nvSpPr>
        <p:spPr>
          <a:xfrm>
            <a:off x="4769968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769968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</a:t>
            </a:r>
            <a:endParaRPr lang="en-US" sz="1700" dirty="0"/>
          </a:p>
        </p:txBody>
      </p:sp>
      <p:sp>
        <p:nvSpPr>
          <p:cNvPr id="90" name="Shape 87"/>
          <p:cNvSpPr/>
          <p:nvPr/>
        </p:nvSpPr>
        <p:spPr>
          <a:xfrm>
            <a:off x="5300320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30032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</a:t>
            </a:r>
            <a:endParaRPr lang="en-US" sz="1700" dirty="0"/>
          </a:p>
        </p:txBody>
      </p:sp>
      <p:sp>
        <p:nvSpPr>
          <p:cNvPr id="92" name="Shape 89"/>
          <p:cNvSpPr/>
          <p:nvPr/>
        </p:nvSpPr>
        <p:spPr>
          <a:xfrm>
            <a:off x="5830672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830672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码</a:t>
            </a:r>
            <a:endParaRPr lang="en-US" sz="1700" dirty="0"/>
          </a:p>
        </p:txBody>
      </p:sp>
      <p:sp>
        <p:nvSpPr>
          <p:cNvPr id="94" name="Shape 91"/>
          <p:cNvSpPr/>
          <p:nvPr/>
        </p:nvSpPr>
        <p:spPr>
          <a:xfrm>
            <a:off x="6361024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361024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</a:t>
            </a:r>
            <a:endParaRPr lang="en-US" sz="1700" dirty="0"/>
          </a:p>
        </p:txBody>
      </p:sp>
      <p:sp>
        <p:nvSpPr>
          <p:cNvPr id="96" name="Shape 93"/>
          <p:cNvSpPr/>
          <p:nvPr/>
        </p:nvSpPr>
        <p:spPr>
          <a:xfrm>
            <a:off x="6891376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891376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存</a:t>
            </a:r>
            <a:endParaRPr lang="en-US" sz="1700" dirty="0"/>
          </a:p>
        </p:txBody>
      </p:sp>
      <p:sp>
        <p:nvSpPr>
          <p:cNvPr id="98" name="Shape 95"/>
          <p:cNvSpPr/>
          <p:nvPr/>
        </p:nvSpPr>
        <p:spPr>
          <a:xfrm>
            <a:off x="7421728" y="3721608"/>
            <a:ext cx="530352" cy="530352"/>
          </a:xfrm>
          <a:prstGeom prst="rect">
            <a:avLst/>
          </a:prstGeom>
          <a:solidFill>
            <a:srgbClr val="F2EDE2">
              <a:alpha val="45000"/>
            </a:srgbClr>
          </a:solidFill>
          <a:ln w="6350">
            <a:solidFill>
              <a:srgbClr val="B9B2A4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421728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亡</a:t>
            </a:r>
            <a:endParaRPr lang="en-US" sz="1700" dirty="0"/>
          </a:p>
        </p:txBody>
      </p:sp>
      <p:sp>
        <p:nvSpPr>
          <p:cNvPr id="100" name="Shape 97"/>
          <p:cNvSpPr/>
          <p:nvPr/>
        </p:nvSpPr>
        <p:spPr>
          <a:xfrm>
            <a:off x="8272120" y="3721608"/>
            <a:ext cx="530352" cy="530352"/>
          </a:xfrm>
          <a:prstGeom prst="rect">
            <a:avLst/>
          </a:prstGeom>
          <a:solidFill>
            <a:srgbClr val="EDE7DA">
              <a:alpha val="70000"/>
            </a:srgbClr>
          </a:solidFill>
          <a:ln w="19050">
            <a:solidFill>
              <a:srgbClr val="B4452F"/>
            </a:solidFill>
            <a:prstDash val="dash"/>
          </a:ln>
        </p:spPr>
      </p:sp>
      <p:sp>
        <p:nvSpPr>
          <p:cNvPr id="101" name="Text 98"/>
          <p:cNvSpPr/>
          <p:nvPr/>
        </p:nvSpPr>
        <p:spPr>
          <a:xfrm>
            <a:off x="8272120" y="3767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452F">
                    <a:alpha val="65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800" dirty="0"/>
          </a:p>
        </p:txBody>
      </p:sp>
      <p:sp>
        <p:nvSpPr>
          <p:cNvPr id="102" name="Text 99"/>
          <p:cNvSpPr/>
          <p:nvPr/>
        </p:nvSpPr>
        <p:spPr>
          <a:xfrm>
            <a:off x="8912200" y="3867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描红格</a:t>
            </a:r>
            <a:endParaRPr lang="en-US" sz="1100" dirty="0"/>
          </a:p>
        </p:txBody>
      </p:sp>
      <p:sp>
        <p:nvSpPr>
          <p:cNvPr id="103" name="Text 100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 22 个字，都有具体对象：「千百万人」是四万万同胞，「共产主义」是写在纲领里的理想。</a:t>
            </a:r>
            <a:endParaRPr lang="en-US" sz="1350" dirty="0"/>
          </a:p>
        </p:txBody>
      </p:sp>
      <p:sp>
        <p:nvSpPr>
          <p:cNvPr id="104" name="Text 101"/>
          <p:cNvSpPr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唯独「我」，不在这 47 个字里 —— 它要读的人，自己填。</a:t>
            </a:r>
            <a:endParaRPr lang="en-US" sz="1700" dirty="0"/>
          </a:p>
        </p:txBody>
      </p:sp>
      <p:sp>
        <p:nvSpPr>
          <p:cNvPr id="105" name="Text 10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我是谁？是 19 岁的董健民，是钟琪，是明明，是每一个普通党员 —— 也是今天的你我。</a:t>
            </a:r>
            <a:endParaRPr lang="en-US" sz="1300" dirty="0"/>
          </a:p>
        </p:txBody>
      </p:sp>
      <p:sp>
        <p:nvSpPr>
          <p:cNvPr id="106" name="Shape 103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0123 4567 8901 2345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452F">
              <a:alpha val="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一　·　千百万人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她走了两万里，去救她不认识的人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个月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4688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2 万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4688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里路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2976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里末程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→ 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264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人到延安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298448" y="3977640"/>
            <a:ext cx="1609344" cy="36576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3127248" y="3611880"/>
            <a:ext cx="1609344" cy="73152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0" y="3611880"/>
            <a:ext cx="1371600" cy="457200"/>
          </a:xfrm>
          <a:prstGeom prst="line">
            <a:avLst/>
          </a:prstGeom>
          <a:noFill/>
          <a:ln w="12700">
            <a:solidFill>
              <a:srgbClr val="8A8F94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 flipV="1">
            <a:off x="6601968" y="3154680"/>
            <a:ext cx="1609344" cy="91440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8430768" y="2331720"/>
            <a:ext cx="1792224" cy="82296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097280" y="3886200"/>
            <a:ext cx="182880" cy="182880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天津·静海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828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1939 春 · 3 人出发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926080" y="425196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94560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香港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754880" y="352044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23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广西凭祥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840480" y="3776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大姐病逝于此</a:t>
            </a:r>
            <a:endParaRPr lang="en-US" sz="1050" dirty="0"/>
          </a:p>
        </p:txBody>
      </p:sp>
      <p:pic>
        <p:nvPicPr>
          <p:cNvPr id="27" name="Image 1" descr="C:\Users\29264\Desktop\思政课ppt\素材-v2\assets\ico-x-B445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337560"/>
            <a:ext cx="246888" cy="24688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400800" y="397764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贵阳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229600" y="3063240"/>
            <a:ext cx="182880" cy="182880"/>
          </a:xfrm>
          <a:prstGeom prst="ellipse">
            <a:avLst/>
          </a:prstGeom>
          <a:solidFill>
            <a:srgbClr val="2B2F33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498080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西安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10241280" y="2240280"/>
            <a:ext cx="182880" cy="182880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50976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延安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932688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1939 秋 · 2 人到达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10213848" y="17647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★</a:t>
            </a:r>
            <a:endParaRPr lang="en-US" sz="1800" dirty="0"/>
          </a:p>
        </p:txBody>
      </p:sp>
      <p:pic>
        <p:nvPicPr>
          <p:cNvPr id="36" name="Image 2" descr="C:\Users\29264\Desktop\思政课ppt\素材-v2\images\ill-01-b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2040"/>
            <a:ext cx="12191695" cy="146304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0" y="4892040"/>
            <a:ext cx="12191695" cy="256032"/>
          </a:xfrm>
          <a:prstGeom prst="rect">
            <a:avLst/>
          </a:prstGeom>
          <a:solidFill>
            <a:srgbClr val="EDE7DA">
              <a:alpha val="65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1939 1940 1942 1946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二　·　CH.2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把理想，变成每天的工作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126480" y="1463040"/>
            <a:ext cx="5440680" cy="3977640"/>
          </a:xfrm>
          <a:prstGeom prst="rect">
            <a:avLst/>
          </a:prstGeom>
          <a:solidFill>
            <a:srgbClr val="2B2F33"/>
          </a:solidFill>
          <a:ln w="12700">
            <a:solidFill>
              <a:srgbClr val="171A1D"/>
            </a:solidFill>
            <a:prstDash val="solid"/>
          </a:ln>
          <a:effectLst>
            <a:outerShdw sx="100000" sy="100000" kx="0" ky="0" algn="bl" rotWithShape="0" blurRad="152400" dist="88900" dir="2700000">
              <a:srgbClr val="1C1A16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82512" y="1719072"/>
            <a:ext cx="4928616" cy="3264408"/>
          </a:xfrm>
          <a:prstGeom prst="rect">
            <a:avLst/>
          </a:prstGeom>
          <a:solidFill>
            <a:srgbClr val="F4EFE4"/>
          </a:solidFill>
          <a:ln/>
        </p:spPr>
      </p:sp>
      <p:pic>
        <p:nvPicPr>
          <p:cNvPr id="7" name="Image 1" descr="C:\Users\29264\Desktop\思政课ppt\素材-v2\images\ill-02-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847088"/>
            <a:ext cx="4672584" cy="30083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82512" y="5020056"/>
            <a:ext cx="2926080" cy="310896"/>
          </a:xfrm>
          <a:prstGeom prst="rect">
            <a:avLst/>
          </a:prstGeom>
          <a:solidFill>
            <a:srgbClr val="E2D9C6"/>
          </a:solidFill>
          <a:ln w="6350">
            <a:solidFill>
              <a:srgbClr val="C9C2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《延安枣园 · 机要科工作台》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　位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中共中央社会部机要科 · 译电员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2395728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E2D9C6"/>
          </a:solidFill>
          <a:ln w="12700">
            <a:solidFill>
              <a:srgbClr val="B4452F"/>
            </a:solidFill>
            <a:prstDash val="solid"/>
          </a:ln>
          <a:effectLst>
            <a:outerShdw sx="100000" sy="100000" kx="0" ky="0" algn="bl" rotWithShape="0" blurRad="63500" dist="25400" dir="2700000">
              <a:srgbClr val="1C1A16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248716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代号 · 小董</a:t>
            </a:r>
            <a:endParaRPr lang="en-US" sz="1600" dirty="0"/>
          </a:p>
        </p:txBody>
      </p:sp>
      <p:pic>
        <p:nvPicPr>
          <p:cNvPr id="14" name="Image 2" descr="C:\Users\29264\Desktop\思政课ppt\素材-v2\assets\ico-tag-B4452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248716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把电码四个数字一组，翻回领导同志的名字。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为周恩来领导的南方局译电 —— 延安 ⇌ 重庆，跨越千山万水。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40080" y="443484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B4452F"/>
          </a:solidFill>
          <a:ln/>
          <a:effectLst>
            <a:outerShdw sx="100000" sy="100000" kx="0" ky="0" algn="bl" rotWithShape="0" blurRad="88900" dist="50800" dir="2700000">
              <a:srgbClr val="1C1A16">
                <a:alpha val="3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481328" y="4434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三年（1940—1942），经她手的电报，无一差错。</a:t>
            </a:r>
            <a:endParaRPr lang="en-US" sz="1500" dirty="0"/>
          </a:p>
        </p:txBody>
      </p:sp>
      <p:pic>
        <p:nvPicPr>
          <p:cNvPr id="19" name="Image 3" descr="C:\Users\29264\Desktop\思政课ppt\素材-v2\assets\ico-headphones-F4EF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457200" cy="457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0086 0231 0411 0730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二　·　实　现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制度，是无数人用命换来的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1207008" y="1828800"/>
            <a:ext cx="0" cy="4160520"/>
          </a:xfrm>
          <a:prstGeom prst="line">
            <a:avLst/>
          </a:prstGeom>
          <a:noFill/>
          <a:ln w="22225">
            <a:solidFill>
              <a:srgbClr val="B4452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6424" y="1929384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72768" y="1783080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737360" y="1856232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8528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1932 · 苏区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38528" y="21854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三人同行；密件离身，即销毁。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06424" y="2990088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2768" y="2843784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737360" y="2916936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1940 · 延安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38528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密码必须手抄，不许付印。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106424" y="4050792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72768" y="3904488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37360" y="3977640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38528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1941 · 延安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38528" y="4306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《机要规则》：密码本，用完即焚。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106424" y="5111496"/>
            <a:ext cx="201168" cy="201168"/>
          </a:xfrm>
          <a:prstGeom prst="ellipse">
            <a:avLst/>
          </a:prstGeom>
          <a:solidFill>
            <a:srgbClr val="B4452F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72768" y="4965192"/>
            <a:ext cx="4160520" cy="896112"/>
          </a:xfrm>
          <a:prstGeom prst="roundRect">
            <a:avLst>
              <a:gd name="adj" fmla="val 5102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737360" y="5038344"/>
            <a:ext cx="219456" cy="137160"/>
          </a:xfrm>
          <a:prstGeom prst="roundRect">
            <a:avLst>
              <a:gd name="adj" fmla="val 20000"/>
            </a:avLst>
          </a:prstGeom>
          <a:ln w="15240">
            <a:solidFill>
              <a:srgbClr val="8A8F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38528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 · 现行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938528" y="5367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《密码法》《保守国家秘密法》。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译 电 · DECRYPT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92240" y="2103120"/>
            <a:ext cx="4846320" cy="2286000"/>
          </a:xfrm>
          <a:prstGeom prst="roundRect">
            <a:avLst>
              <a:gd name="adj" fmla="val 2000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720840" y="2377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0472　　1163</a:t>
            </a:r>
            <a:endParaRPr lang="en-US" sz="3000" dirty="0"/>
          </a:p>
        </p:txBody>
      </p:sp>
      <p:pic>
        <p:nvPicPr>
          <p:cNvPr id="29" name="Image 1" descr="C:\Users\29264\Desktop\思政课ppt\素材-v2\assets\ico-arrow-right-B445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999232"/>
            <a:ext cx="640080" cy="6400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720840" y="3611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　　命</a:t>
            </a:r>
            <a:endParaRPr lang="en-US" sz="4000" dirty="0"/>
          </a:p>
        </p:txBody>
      </p:sp>
      <p:sp>
        <p:nvSpPr>
          <p:cNvPr id="31" name="Text 27"/>
          <p:cNvSpPr/>
          <p:nvPr/>
        </p:nvSpPr>
        <p:spPr>
          <a:xfrm>
            <a:off x="649224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"/>
              </a:lnSpc>
              <a:buNone/>
            </a:pPr>
            <a:r>
              <a:rPr lang="en-US" sz="13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密码表上，「生命」的码是 0472 1163；这张表上，没有「投降」两个字。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492240" y="5440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这些规则，每一条背后，都有人付出过生命。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1932 1940 1941 2025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452F">
              <a:alpha val="1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96352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三　·　CH.3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宁可……也绝不</a:t>
            </a:r>
            <a:endParaRPr lang="en-US" sz="2900" dirty="0"/>
          </a:p>
        </p:txBody>
      </p:sp>
      <p:pic>
        <p:nvPicPr>
          <p:cNvPr id="6" name="Image 1" descr="C:\Users\29264\Desktop\思政课ppt\素材-v2\images\ill-03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548640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600200"/>
            <a:ext cx="5486400" cy="3977640"/>
          </a:xfrm>
          <a:prstGeom prst="rect">
            <a:avLst/>
          </a:prstGeom>
          <a:ln w="15875">
            <a:solidFill>
              <a:srgbClr val="B4452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76656" y="1709928"/>
            <a:ext cx="5266944" cy="3758184"/>
          </a:xfrm>
          <a:prstGeom prst="rect">
            <a:avLst/>
          </a:prstGeom>
          <a:ln w="9525">
            <a:solidFill>
              <a:srgbClr val="D9A44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55080" y="1554480"/>
            <a:ext cx="5212080" cy="4297680"/>
          </a:xfrm>
          <a:prstGeom prst="rect">
            <a:avLst/>
          </a:prstGeom>
          <a:solidFill>
            <a:srgbClr val="F4EFE4"/>
          </a:solidFill>
          <a:ln w="19050">
            <a:solidFill>
              <a:srgbClr val="B4452F"/>
            </a:solidFill>
            <a:prstDash val="solid"/>
          </a:ln>
          <a:effectLst>
            <a:outerShdw sx="100000" sy="100000" kx="0" ky="0" algn="bl" rotWithShape="0" blurRad="114300" dist="63500" dir="2700000">
              <a:srgbClr val="1C1A16">
                <a:alpha val="3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64808" y="1664208"/>
            <a:ext cx="4992624" cy="4078224"/>
          </a:xfrm>
          <a:prstGeom prst="rect">
            <a:avLst/>
          </a:prstGeom>
          <a:ln w="9525">
            <a:solidFill>
              <a:srgbClr val="D9A44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1737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囍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681228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　一九四二年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1228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　延安枣园 · 窑洞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122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新郎 钟琪　｜　新娘 董健民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1228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证婚人　李克农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812280" y="4681728"/>
            <a:ext cx="4297680" cy="0"/>
          </a:xfrm>
          <a:prstGeom prst="line">
            <a:avLst/>
          </a:prstGeom>
          <a:noFill/>
          <a:ln w="9525">
            <a:solidFill>
              <a:srgbClr val="D9A44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2940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结婚誓词，就是那 47 个字。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62940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没有鲜花婚床 —— 一盏油灯，一张红绸。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1942 0472 1163 0001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ill-04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29264\Desktop\思政课ppt\素材-v2\images\plate-ink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463040" y="228600"/>
            <a:ext cx="9235440" cy="2468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1946.11.7　·　兑现的日子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315200" y="4754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烟台 ────→ 大连 · 建秘密电台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40080" y="960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6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船在烟台外海，被国民党军舰截停。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40080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6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炮火击中船帆，军警要登船检查。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40080" y="1874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"/>
              </a:lnSpc>
              <a:buNone/>
            </a:pPr>
            <a:r>
              <a:rPr lang="en-US" sz="16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钟琪、董健民抱紧两岁的明明。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40080" y="23774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他们把密件绑在身上，相拥跳入渤海。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852160" y="48920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 页 ， 没 有 。</a:t>
            </a:r>
            <a:endParaRPr lang="en-US" sz="3800" dirty="0"/>
          </a:p>
        </p:txBody>
      </p:sp>
      <p:sp>
        <p:nvSpPr>
          <p:cNvPr id="11" name="Shape 7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3C4A5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2EDE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1946 1107 1700 0000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2E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目击者 · WITNESS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唯一的生还者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869680" y="13716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0" b="1" dirty="0">
                <a:solidFill>
                  <a:srgbClr val="B4452F">
                    <a:alpha val="1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21000" dirty="0"/>
          </a:p>
        </p:txBody>
      </p:sp>
      <p:pic>
        <p:nvPicPr>
          <p:cNvPr id="6" name="Image 1" descr="C:\Users\29264\Desktop\思政课ppt\素材-v2\assets\ico-anchor-2B2F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31720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11.7 船被截停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1965960" y="2587752"/>
            <a:ext cx="1371600" cy="310896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 flipV="1">
            <a:off x="3337560" y="2587752"/>
            <a:ext cx="1371600" cy="310896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4709160" y="2587752"/>
            <a:ext cx="1371600" cy="310896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 flipV="1">
            <a:off x="6080760" y="2606040"/>
            <a:ext cx="1371600" cy="292608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7452360" y="2606040"/>
            <a:ext cx="1280160" cy="182880"/>
          </a:xfrm>
          <a:prstGeom prst="line">
            <a:avLst/>
          </a:prstGeom>
          <a:noFill/>
          <a:ln w="19050">
            <a:solidFill>
              <a:srgbClr val="B4452F"/>
            </a:solidFill>
            <a:prstDash val="dash"/>
          </a:ln>
        </p:spPr>
      </p:sp>
      <p:pic>
        <p:nvPicPr>
          <p:cNvPr id="13" name="Image 2" descr="C:\Users\29264\Desktop\思政课ppt\素材-v2\assets\ico-package-B4452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86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抱木箱漂流</a:t>
            </a:r>
            <a:endParaRPr lang="en-US" sz="1050" dirty="0"/>
          </a:p>
        </p:txBody>
      </p:sp>
      <p:pic>
        <p:nvPicPr>
          <p:cNvPr id="15" name="Image 3" descr="C:\Users\29264\Desktop\思政课ppt\素材-v2\assets\ico-ship-B4452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286000"/>
            <a:ext cx="713232" cy="7132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苏联商船救起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1280160" y="3794760"/>
            <a:ext cx="6949440" cy="2148840"/>
          </a:xfrm>
          <a:prstGeom prst="roundRect">
            <a:avLst>
              <a:gd name="adj" fmla="val 2128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5544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交通员 · 口述记录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1554480" y="4498848"/>
            <a:ext cx="6400800" cy="0"/>
          </a:xfrm>
          <a:prstGeom prst="line">
            <a:avLst/>
          </a:prstGeom>
          <a:noFill/>
          <a:ln w="9525">
            <a:solidFill>
              <a:srgbClr val="D5CEC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554480" y="4370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同船交通员抱着一个木箱漂流。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1554480" y="4937760"/>
            <a:ext cx="6400800" cy="0"/>
          </a:xfrm>
          <a:prstGeom prst="line">
            <a:avLst/>
          </a:prstGeom>
          <a:noFill/>
          <a:ln w="9525">
            <a:solidFill>
              <a:srgbClr val="D5CEC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554480" y="48097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木箱里没有密码 —— 密码，在董健民身上。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1554480" y="5376672"/>
            <a:ext cx="6400800" cy="0"/>
          </a:xfrm>
          <a:prstGeom prst="line">
            <a:avLst/>
          </a:prstGeom>
          <a:noFill/>
          <a:ln w="9525">
            <a:solidFill>
              <a:srgbClr val="D5CEC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554480" y="52486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他被苏联商船救起，成为唯一目击者。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869680" y="3977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600" dirty="0"/>
          </a:p>
        </p:txBody>
      </p:sp>
      <p:sp>
        <p:nvSpPr>
          <p:cNvPr id="26" name="Text 20"/>
          <p:cNvSpPr/>
          <p:nvPr/>
        </p:nvSpPr>
        <p:spPr>
          <a:xfrm>
            <a:off x="850392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一家三口，唯他生还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0001 0000 0000 0000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 四　·　CH.4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零遗物</a:t>
            </a:r>
            <a:endParaRPr lang="en-US" sz="2900" dirty="0"/>
          </a:p>
        </p:txBody>
      </p:sp>
      <p:pic>
        <p:nvPicPr>
          <p:cNvPr id="5" name="Image 1" descr="C:\Users\29264\Desktop\思政课ppt\素材-v2\images\ill-05-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53949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1554480"/>
            <a:ext cx="5394960" cy="3200400"/>
          </a:xfrm>
          <a:prstGeom prst="rect">
            <a:avLst/>
          </a:prstGeom>
          <a:ln w="9525">
            <a:solidFill>
              <a:srgbClr val="C9C2B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66928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1983 · 家人领到的骨灰盒，里面只有一份悼词。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400800" y="1783080"/>
            <a:ext cx="0" cy="3246120"/>
          </a:xfrm>
          <a:prstGeom prst="line">
            <a:avLst/>
          </a:prstGeom>
          <a:noFill/>
          <a:ln w="15875">
            <a:solidFill>
              <a:srgbClr val="D9A441"/>
            </a:solidFill>
            <a:prstDash val="sysDash"/>
          </a:ln>
        </p:spPr>
      </p:sp>
      <p:sp>
        <p:nvSpPr>
          <p:cNvPr id="9" name="Shape 5"/>
          <p:cNvSpPr/>
          <p:nvPr/>
        </p:nvSpPr>
        <p:spPr>
          <a:xfrm>
            <a:off x="6309360" y="1764792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7512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1700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一家三口，牺牲于渤海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9360" y="2514600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2441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5236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全国机要工作会议 —— 消息迟到 35 年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3264408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319125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1983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45236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骨灰盒送回家 —— 里面只有一份悼词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09360" y="4014216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39410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1988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452360" y="3950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天津烈士陵园 —— 一家三口的名字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4764024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4EF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75120" y="46908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452360" y="4700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五座展厅 —— 他们的名字在最前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5257800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724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她没带走的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77240" y="55961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F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4000" dirty="0"/>
          </a:p>
        </p:txBody>
      </p:sp>
      <p:sp>
        <p:nvSpPr>
          <p:cNvPr id="27" name="Text 23"/>
          <p:cNvSpPr/>
          <p:nvPr/>
        </p:nvSpPr>
        <p:spPr>
          <a:xfrm>
            <a:off x="1600200" y="5870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件遗物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977640" y="5257800"/>
            <a:ext cx="3246120" cy="1051560"/>
          </a:xfrm>
          <a:prstGeom prst="roundRect">
            <a:avLst>
              <a:gd name="adj" fmla="val 4348"/>
            </a:avLst>
          </a:prstGeom>
          <a:solidFill>
            <a:srgbClr val="F4EFE4"/>
          </a:solidFill>
          <a:ln w="9525">
            <a:solidFill>
              <a:srgbClr val="8A8F94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2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187952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敌人没得到的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187952" y="55961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4000" dirty="0"/>
          </a:p>
        </p:txBody>
      </p:sp>
      <p:sp>
        <p:nvSpPr>
          <p:cNvPr id="31" name="Text 27"/>
          <p:cNvSpPr/>
          <p:nvPr/>
        </p:nvSpPr>
        <p:spPr>
          <a:xfrm>
            <a:off x="5010912" y="5870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页密件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58952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她守住的，是「一页未落」。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589520" y="5943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天津 · 静海 · 延安 · 大连 · 北京 —— 五座展厅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1981 1983 1988 2025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390" cy="4114800"/>
          </a:xfrm>
          <a:prstGeom prst="rect">
            <a:avLst/>
          </a:prstGeom>
          <a:solidFill>
            <a:srgbClr val="22313B"/>
          </a:solidFill>
          <a:ln/>
        </p:spPr>
      </p:sp>
      <p:pic>
        <p:nvPicPr>
          <p:cNvPr id="3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095390" cy="4114800"/>
          </a:xfrm>
          <a:prstGeom prst="rect">
            <a:avLst/>
          </a:prstGeom>
          <a:solidFill>
            <a:srgbClr val="22313B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E2D9C6">
              <a:alpha val="7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 · 渤 海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1106424"/>
            <a:ext cx="566928" cy="566928"/>
          </a:xfrm>
          <a:prstGeom prst="ellipse">
            <a:avLst/>
          </a:prstGeom>
          <a:solidFill>
            <a:srgbClr val="2E3E49"/>
          </a:solidFill>
          <a:ln/>
        </p:spPr>
      </p:sp>
      <p:pic>
        <p:nvPicPr>
          <p:cNvPr id="9" name="Image 1" descr="C:\Users\29264\Desktop\思政课ppt\素材-v2\assets\ico-ship-F4EF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612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188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一艘军舰，截停一条木船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58368" y="1764792"/>
            <a:ext cx="566928" cy="566928"/>
          </a:xfrm>
          <a:prstGeom prst="ellipse">
            <a:avLst/>
          </a:prstGeom>
          <a:solidFill>
            <a:srgbClr val="2E3E49"/>
          </a:solidFill>
          <a:ln/>
        </p:spPr>
      </p:sp>
      <p:pic>
        <p:nvPicPr>
          <p:cNvPr id="12" name="Image 2" descr="C:\Users\29264\Desktop\思政课ppt\素材-v2\assets\ico-crosshair-F4EF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19656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1847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炮火，击中船帆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58368" y="2423160"/>
            <a:ext cx="566928" cy="566928"/>
          </a:xfrm>
          <a:prstGeom prst="ellipse">
            <a:avLst/>
          </a:prstGeom>
          <a:solidFill>
            <a:srgbClr val="2E3E49"/>
          </a:solidFill>
          <a:ln/>
        </p:spPr>
      </p:sp>
      <p:pic>
        <p:nvPicPr>
          <p:cNvPr id="15" name="Image 3" descr="C:\Users\29264\Desktop\思政课ppt\素材-v2\assets\ico-arrow-up-F4EF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478024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25054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军警，登船抢密码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要拿一本密码 ——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" y="3547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需要一艘军舰。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6446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 · 校 园</a:t>
            </a:r>
            <a:endParaRPr lang="en-US" sz="1300" dirty="0"/>
          </a:p>
        </p:txBody>
      </p:sp>
      <p:pic>
        <p:nvPicPr>
          <p:cNvPr id="20" name="Image 4" descr="C:\Users\29264\Desktop\思政课ppt\素材-v2\assets\ico-message-B4452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84048"/>
            <a:ext cx="502920" cy="502920"/>
          </a:xfrm>
          <a:prstGeom prst="rect">
            <a:avLst/>
          </a:prstGeom>
        </p:spPr>
      </p:pic>
      <p:pic>
        <p:nvPicPr>
          <p:cNvPr id="21" name="Image 5" descr="C:\Users\29264\Desktop\思政课ppt\素材-v2\assets\tape-ch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20000">
            <a:off x="6400800" y="1371600"/>
            <a:ext cx="5486400" cy="1097280"/>
          </a:xfrm>
          <a:prstGeom prst="rect">
            <a:avLst/>
          </a:prstGeom>
          <a:effectLst>
            <a:outerShdw sx="100000" sy="100000" kx="0" ky="0" algn="bl" rotWithShape="0" blurRad="88900" dist="50800" dir="2700000">
              <a:srgbClr val="1C1A16">
                <a:alpha val="30000"/>
              </a:srgbClr>
            </a:outerShdw>
          </a:effectLst>
        </p:spPr>
      </p:pic>
      <p:sp>
        <p:nvSpPr>
          <p:cNvPr id="22" name="Text 14"/>
          <p:cNvSpPr/>
          <p:nvPr/>
        </p:nvSpPr>
        <p:spPr>
          <a:xfrm>
            <a:off x="6446520" y="3200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要拿今天的密码 ——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446520" y="35478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只需要一条消息。</a:t>
            </a:r>
            <a:endParaRPr lang="en-US" sz="2100" dirty="0"/>
          </a:p>
        </p:txBody>
      </p:sp>
      <p:sp>
        <p:nvSpPr>
          <p:cNvPr id="24" name="Shape 16"/>
          <p:cNvSpPr/>
          <p:nvPr/>
        </p:nvSpPr>
        <p:spPr>
          <a:xfrm>
            <a:off x="6095390" y="320040"/>
            <a:ext cx="0" cy="3474720"/>
          </a:xfrm>
          <a:prstGeom prst="line">
            <a:avLst/>
          </a:prstGeom>
          <a:noFill/>
          <a:ln w="12700">
            <a:solidFill>
              <a:srgbClr val="D9A441"/>
            </a:solidFill>
            <a:prstDash val="dash"/>
          </a:ln>
        </p:spPr>
      </p:sp>
      <p:sp>
        <p:nvSpPr>
          <p:cNvPr id="25" name="Shape 17"/>
          <p:cNvSpPr/>
          <p:nvPr/>
        </p:nvSpPr>
        <p:spPr>
          <a:xfrm>
            <a:off x="5702198" y="1691640"/>
            <a:ext cx="786384" cy="786384"/>
          </a:xfrm>
          <a:prstGeom prst="ellipse">
            <a:avLst/>
          </a:prstGeom>
          <a:solidFill>
            <a:srgbClr val="EDE7DA"/>
          </a:solidFill>
          <a:ln w="15875">
            <a:solidFill>
              <a:srgbClr val="B4452F"/>
            </a:solidFill>
            <a:prstDash val="solid"/>
          </a:ln>
          <a:effectLst>
            <a:outerShdw sx="100000" sy="100000" kx="0" ky="0" algn="bl" rotWithShape="0" blurRad="76200" dist="38100" dir="2700000">
              <a:srgbClr val="1C1A16">
                <a:alpha val="3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702198" y="188366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79 年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008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今天的密码，就在我们身边：</a:t>
            </a:r>
            <a:endParaRPr lang="en-US" sz="1400" dirty="0"/>
          </a:p>
        </p:txBody>
      </p:sp>
      <p:pic>
        <p:nvPicPr>
          <p:cNvPr id="28" name="Image 6" descr="C:\Users\29264\Desktop\思政课ppt\素材-v2\assets\ico-drive-2B2F3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681728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7200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实验数据</a:t>
            </a:r>
            <a:endParaRPr lang="en-US" sz="1100" dirty="0"/>
          </a:p>
        </p:txBody>
      </p:sp>
      <p:pic>
        <p:nvPicPr>
          <p:cNvPr id="30" name="Image 7" descr="C:\Users\29264\Desktop\思政课ppt\素材-v2\assets\ico-cpu-B4452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4681728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536192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核心算法</a:t>
            </a:r>
            <a:endParaRPr lang="en-US" sz="1100" dirty="0"/>
          </a:p>
        </p:txBody>
      </p:sp>
      <p:pic>
        <p:nvPicPr>
          <p:cNvPr id="32" name="Image 8" descr="C:\Users\29264\Desktop\思政课ppt\素材-v2\assets\ico-ruler-2B2F3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4681728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2615184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未公开图纸</a:t>
            </a:r>
            <a:endParaRPr lang="en-US" sz="1100" dirty="0"/>
          </a:p>
        </p:txBody>
      </p:sp>
      <p:pic>
        <p:nvPicPr>
          <p:cNvPr id="34" name="Image 9" descr="C:\Users\29264\Desktop\思政课ppt\素材-v2\assets\ico-file-B4452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7056" y="4681728"/>
            <a:ext cx="457200" cy="4572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94176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未刊成果</a:t>
            </a:r>
            <a:endParaRPr lang="en-US" sz="1100" dirty="0"/>
          </a:p>
        </p:txBody>
      </p:sp>
      <p:pic>
        <p:nvPicPr>
          <p:cNvPr id="36" name="Image 10" descr="C:\Users\29264\Desktop\思政课ppt\素材-v2\assets\ico-eye-2B2F3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6048" y="4681728"/>
            <a:ext cx="457200" cy="4572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4773168" y="5175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个人隐私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640080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守住它，有法可依：</a:t>
            </a:r>
            <a:endParaRPr lang="en-US" sz="1400" dirty="0"/>
          </a:p>
        </p:txBody>
      </p:sp>
      <p:pic>
        <p:nvPicPr>
          <p:cNvPr id="39" name="Image 11" descr="C:\Users\29264\Desktop\思政课ppt\素材-v2\assets\ico-scale-B4452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636008"/>
            <a:ext cx="347472" cy="34747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85800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《保守国家秘密法》第 9 条</a:t>
            </a:r>
            <a:endParaRPr lang="en-US" sz="1300" dirty="0"/>
          </a:p>
        </p:txBody>
      </p:sp>
      <p:pic>
        <p:nvPicPr>
          <p:cNvPr id="41" name="Image 12" descr="C:\Users\29264\Desktop\思政课ppt\素材-v2\assets\ico-book-B4452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5056632"/>
            <a:ext cx="347472" cy="34747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858000" y="5084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《密码法》</a:t>
            </a:r>
            <a:endParaRPr lang="en-US" sz="1300" dirty="0"/>
          </a:p>
        </p:txBody>
      </p:sp>
      <p:pic>
        <p:nvPicPr>
          <p:cNvPr id="43" name="Image 13" descr="C:\Users\29264\Desktop\思政课ppt\素材-v2\assets\ico-calendar-B4452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5477256"/>
            <a:ext cx="347472" cy="34747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858000" y="5504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4·15 全民国家安全教育日</a:t>
            </a:r>
            <a:endParaRPr lang="en-US" sz="1300" dirty="0"/>
          </a:p>
        </p:txBody>
      </p:sp>
      <p:sp>
        <p:nvSpPr>
          <p:cNvPr id="45" name="Text 2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守住它，就是守住千万人的解放。</a:t>
            </a:r>
            <a:endParaRPr lang="en-US" sz="1800" dirty="0"/>
          </a:p>
        </p:txBody>
      </p:sp>
      <p:sp>
        <p:nvSpPr>
          <p:cNvPr id="46" name="Shape 30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47" name="Text 31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48" name="Text 32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2025 0415 0009 0001</a:t>
            </a:r>
            <a:endParaRPr lang="en-US" sz="900" dirty="0"/>
          </a:p>
        </p:txBody>
      </p:sp>
      <p:sp>
        <p:nvSpPr>
          <p:cNvPr id="49" name="Text 33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29264\Desktop\思政课ppt\素材-v2\images\tex-xuan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452F">
              <a:alpha val="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400" kern="0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 束 · CODA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她的誓言，也是我们的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828800" y="18836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5176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28800" y="25968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51760" y="2542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为了实现共产主义理想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28800" y="3310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51760" y="32552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828800" y="4023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章四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39684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 rot="-120000">
            <a:off x="7955280" y="4892040"/>
            <a:ext cx="3566160" cy="1051560"/>
          </a:xfrm>
          <a:prstGeom prst="rect">
            <a:avLst/>
          </a:prstGeom>
          <a:solidFill>
            <a:srgbClr val="B4452F"/>
          </a:solidFill>
          <a:ln w="12700">
            <a:solidFill>
              <a:srgbClr val="963522"/>
            </a:solidFill>
            <a:prstDash val="solid"/>
          </a:ln>
          <a:effectLst>
            <a:outerShdw sx="100000" sy="100000" kx="0" ky="0" algn="bl" rotWithShape="0" blurRad="101600" dist="50800" dir="2700000">
              <a:srgbClr val="1C1A16">
                <a:alpha val="3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 rot="-120000">
            <a:off x="7955280" y="4892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spc="400" kern="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4008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F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　→　2026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 47 个字，不是历史课本里的一句话 —— 是今天每一个人的底线。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A5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致敬　董健民、钟琪 与明明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C9C2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510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 · 董健民（1923—1946）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06240" y="6510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1946 2026 0047 0000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 ·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誓与密码共存亡 —— 董健民</dc:title>
  <dc:subject>PptxGenJS Presentation</dc:subject>
  <dc:creator>思政课</dc:creator>
  <cp:lastModifiedBy>思政课</cp:lastModifiedBy>
  <cp:revision>1</cp:revision>
  <dcterms:created xsi:type="dcterms:W3CDTF">2026-09-30T18:22:45Z</dcterms:created>
  <dcterms:modified xsi:type="dcterms:W3CDTF">2026-09-30T18:22:45Z</dcterms:modified>
</cp:coreProperties>
</file>