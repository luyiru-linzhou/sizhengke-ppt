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9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2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7557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00" Type="http://schemas.openxmlformats.org/officeDocument/2006/relationships/image" Target="../media/image-intro-house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5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29264\Desktop\思政课ppt\素材-v2\images\bg-p1-luori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29264\Desktop\思政课ppt\素材-v2\images\plate-ink.png"/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1088272" y="3851440"/>
            <a:ext cx="9827580" cy="25225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566928"/>
            <a:ext cx="5486400" cy="320040"/>
          </a:xfrm>
          <a:prstGeom prst="rect">
            <a:avLst/>
          </a:prstGeom>
          <a:solidFill>
            <a:srgbClr val="2B2F33">
              <a:alpha val="45000"/>
            </a:srgbClr>
          </a:solidFill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kern="0" spc="300" dirty="0">
                <a:solidFill>
                  <a:srgbClr val="F4EF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思政课 · 我来讲 ｜ 红色名言解读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1810375" y="4092527"/>
            <a:ext cx="8659410" cy="2120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kern="0" spc="20" dirty="0">
                <a:solidFill>
                  <a:srgbClr val="F4EF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为了千百万人能够得到解放，为了实现共产主义理想，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kern="0" spc="20" dirty="0">
                <a:solidFill>
                  <a:srgbClr val="F4EF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宁可牺牲自己的性命，也绝不泄露党的机密，誓与密码共存亡！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640080" y="5641848"/>
            <a:ext cx="1100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4EF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—— 董健民（1923—1946）　中共中央社会部机要科 · 译电员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640080" y="6053328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29264\Desktop\思政课ppt\素材-v2\images\bg-p2-chuanxian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29264\Desktop\思政课ppt\素材-v2\images\scrim-bott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977640"/>
            <a:ext cx="12191695" cy="28803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42245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D9A44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1946 年 11 月 7 日　·　渤海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640080" y="4617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"/>
              </a:lnSpc>
              <a:buNone/>
            </a:pPr>
            <a:r>
              <a:rPr lang="en-US" sz="1550" dirty="0">
                <a:solidFill>
                  <a:srgbClr val="F4EF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一艘从烟台开往大连的轮船，在渤海被国民党军舰截停。</a:t>
            </a:r>
            <a:endParaRPr lang="en-US" sz="1550" dirty="0"/>
          </a:p>
        </p:txBody>
      </p:sp>
      <p:sp>
        <p:nvSpPr>
          <p:cNvPr id="6" name="Text 2"/>
          <p:cNvSpPr/>
          <p:nvPr/>
        </p:nvSpPr>
        <p:spPr>
          <a:xfrm>
            <a:off x="640080" y="50017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"/>
              </a:lnSpc>
              <a:buNone/>
            </a:pPr>
            <a:r>
              <a:rPr lang="en-US" sz="1550" dirty="0">
                <a:solidFill>
                  <a:srgbClr val="F4EF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船上有中共中央社会部的一对年轻夫妇、一个两岁的孩子，和一批绝密密码。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640080" y="538581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"/>
              </a:lnSpc>
              <a:buNone/>
            </a:pPr>
            <a:r>
              <a:rPr lang="en-US" sz="1550" dirty="0">
                <a:solidFill>
                  <a:srgbClr val="F4EF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军警要登船。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640080" y="576986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"/>
              </a:lnSpc>
              <a:buNone/>
            </a:pPr>
            <a:r>
              <a:rPr lang="en-US" sz="1550" dirty="0">
                <a:solidFill>
                  <a:srgbClr val="F4EF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他们把密件紧抱在胸前，转身跃入大海。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640080" y="619963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9A44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一家三口，无一生还；密件，一页未失。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29264\Desktop\思政课ppt\素材-v2\images\tex-xuanzh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kern="0" spc="400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　录　·　CONTENTS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四章，按她一生的时间顺序</a:t>
            </a:r>
            <a:endParaRPr lang="en-US" sz="2900" dirty="0"/>
          </a:p>
        </p:txBody>
      </p:sp>
      <p:sp>
        <p:nvSpPr>
          <p:cNvPr id="11" name="Shape 8"/>
          <p:cNvSpPr/>
          <p:nvPr/>
        </p:nvSpPr>
        <p:spPr>
          <a:xfrm>
            <a:off x="1119672" y="1673352"/>
            <a:ext cx="1234440" cy="274320"/>
          </a:xfrm>
          <a:prstGeom prst="roundRect">
            <a:avLst>
              <a:gd name="adj" fmla="val 13333"/>
            </a:avLst>
          </a:prstGeom>
          <a:solidFill>
            <a:srgbClr val="E2D9C6"/>
          </a:solidFill>
          <a:ln/>
        </p:spPr>
      </p:sp>
      <p:sp>
        <p:nvSpPr>
          <p:cNvPr id="12" name="Shape 9"/>
          <p:cNvSpPr/>
          <p:nvPr/>
        </p:nvSpPr>
        <p:spPr>
          <a:xfrm>
            <a:off x="863639" y="2862072"/>
            <a:ext cx="5696957" cy="658368"/>
          </a:xfrm>
          <a:prstGeom prst="roundRect">
            <a:avLst>
              <a:gd name="adj" fmla="val 8333"/>
            </a:avLst>
          </a:prstGeom>
          <a:solidFill>
            <a:srgbClr val="E2D9C6"/>
          </a:solidFill>
          <a:ln w="9525">
            <a:solidFill>
              <a:srgbClr val="C9C2B6"/>
            </a:solidFill>
            <a:prstDash val="solid"/>
          </a:ln>
          <a:effectLst>
            <a:outerShdw blurRad="88900" dist="38100" dir="2700000" algn="bl" rotWithShape="0">
              <a:srgbClr val="1C1A16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1156248" y="3123431"/>
            <a:ext cx="15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kern="0" spc="200" dirty="0">
                <a:solidFill>
                  <a:srgbClr val="8A8F9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章 一 · 05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724235" y="3114480"/>
            <a:ext cx="400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为了千百万人能够得到解放</a:t>
            </a:r>
            <a:endParaRPr lang="en-US" sz="1800" dirty="0"/>
          </a:p>
        </p:txBody>
      </p:sp>
      <p:pic>
        <p:nvPicPr>
          <p:cNvPr id="15" name="Image 1" descr="C:\Users\29264\Desktop\思政课ppt\素材-v2\assets\ico-users-B4452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2221" y="2945744"/>
            <a:ext cx="502920" cy="50292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1119672" y="3648456"/>
            <a:ext cx="1234440" cy="274320"/>
          </a:xfrm>
          <a:prstGeom prst="roundRect">
            <a:avLst>
              <a:gd name="adj" fmla="val 13333"/>
            </a:avLst>
          </a:prstGeom>
          <a:solidFill>
            <a:srgbClr val="E2D9C6"/>
          </a:solidFill>
          <a:ln/>
        </p:spPr>
      </p:sp>
      <p:sp>
        <p:nvSpPr>
          <p:cNvPr id="17" name="Shape 13"/>
          <p:cNvSpPr/>
          <p:nvPr/>
        </p:nvSpPr>
        <p:spPr>
          <a:xfrm>
            <a:off x="863640" y="3849624"/>
            <a:ext cx="5696958" cy="658368"/>
          </a:xfrm>
          <a:prstGeom prst="roundRect">
            <a:avLst>
              <a:gd name="adj" fmla="val 8333"/>
            </a:avLst>
          </a:prstGeom>
          <a:solidFill>
            <a:srgbClr val="E2D9C6"/>
          </a:solidFill>
          <a:ln w="9525">
            <a:solidFill>
              <a:srgbClr val="C9C2B6"/>
            </a:solidFill>
            <a:prstDash val="solid"/>
          </a:ln>
          <a:effectLst>
            <a:outerShdw blurRad="88900" dist="38100" dir="2700000" algn="bl" rotWithShape="0">
              <a:srgbClr val="1C1A16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4"/>
          <p:cNvSpPr/>
          <p:nvPr/>
        </p:nvSpPr>
        <p:spPr>
          <a:xfrm>
            <a:off x="1156248" y="4104502"/>
            <a:ext cx="15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A8F9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章 二 · 07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2808254" y="4048040"/>
            <a:ext cx="400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为了实现共产主义理想</a:t>
            </a:r>
            <a:endParaRPr lang="en-US" sz="1800" dirty="0"/>
          </a:p>
        </p:txBody>
      </p:sp>
      <p:pic>
        <p:nvPicPr>
          <p:cNvPr id="20" name="Image 2" descr="C:\Users\29264\Desktop\思政课ppt\素材-v2\assets\ico-target-B4452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2221" y="3915008"/>
            <a:ext cx="502920" cy="50292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1119672" y="4636008"/>
            <a:ext cx="1234440" cy="274320"/>
          </a:xfrm>
          <a:prstGeom prst="roundRect">
            <a:avLst>
              <a:gd name="adj" fmla="val 13333"/>
            </a:avLst>
          </a:prstGeom>
          <a:solidFill>
            <a:srgbClr val="E2D9C6"/>
          </a:solidFill>
          <a:ln/>
        </p:spPr>
      </p:sp>
      <p:sp>
        <p:nvSpPr>
          <p:cNvPr id="22" name="Shape 17"/>
          <p:cNvSpPr/>
          <p:nvPr/>
        </p:nvSpPr>
        <p:spPr>
          <a:xfrm>
            <a:off x="863640" y="4801976"/>
            <a:ext cx="5696958" cy="658368"/>
          </a:xfrm>
          <a:prstGeom prst="roundRect">
            <a:avLst>
              <a:gd name="adj" fmla="val 8333"/>
            </a:avLst>
          </a:prstGeom>
          <a:solidFill>
            <a:srgbClr val="E2D9C6"/>
          </a:solidFill>
          <a:ln w="9525">
            <a:solidFill>
              <a:srgbClr val="C9C2B6"/>
            </a:solidFill>
            <a:prstDash val="solid"/>
          </a:ln>
          <a:effectLst>
            <a:outerShdw blurRad="88900" dist="38100" dir="2700000" algn="bl" rotWithShape="0">
              <a:srgbClr val="1C1A16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3" name="Text 18"/>
          <p:cNvSpPr/>
          <p:nvPr/>
        </p:nvSpPr>
        <p:spPr>
          <a:xfrm>
            <a:off x="1183325" y="5072672"/>
            <a:ext cx="15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A8F9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章 三 · 09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2365145" y="5055147"/>
            <a:ext cx="3400147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宁可牺牲自己的性命，也绝不泄露党的机密</a:t>
            </a:r>
            <a:endParaRPr lang="en-US" sz="1400" dirty="0"/>
          </a:p>
        </p:txBody>
      </p:sp>
      <p:pic>
        <p:nvPicPr>
          <p:cNvPr id="25" name="Image 3" descr="C:\Users\29264\Desktop\思政课ppt\素材-v2\assets\ico-heart-B4452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5020" y="4896612"/>
            <a:ext cx="502920" cy="502920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1009944" y="5623560"/>
            <a:ext cx="1234440" cy="274320"/>
          </a:xfrm>
          <a:prstGeom prst="roundRect">
            <a:avLst>
              <a:gd name="adj" fmla="val 13333"/>
            </a:avLst>
          </a:prstGeom>
          <a:solidFill>
            <a:srgbClr val="963522"/>
          </a:solidFill>
          <a:ln/>
        </p:spPr>
      </p:sp>
      <p:sp>
        <p:nvSpPr>
          <p:cNvPr id="27" name="Shape 21"/>
          <p:cNvSpPr/>
          <p:nvPr/>
        </p:nvSpPr>
        <p:spPr>
          <a:xfrm rot="-60000">
            <a:off x="753856" y="5818334"/>
            <a:ext cx="5807648" cy="658368"/>
          </a:xfrm>
          <a:prstGeom prst="roundRect">
            <a:avLst>
              <a:gd name="adj" fmla="val 8333"/>
            </a:avLst>
          </a:prstGeom>
          <a:solidFill>
            <a:srgbClr val="B4452F"/>
          </a:solidFill>
          <a:ln w="9525">
            <a:solidFill>
              <a:srgbClr val="963522"/>
            </a:solidFill>
            <a:prstDash val="solid"/>
          </a:ln>
          <a:effectLst>
            <a:outerShdw blurRad="88900" dist="63500" dir="2700000" algn="bl" rotWithShape="0">
              <a:srgbClr val="1C1A16">
                <a:alpha val="34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2"/>
          <p:cNvSpPr/>
          <p:nvPr/>
        </p:nvSpPr>
        <p:spPr>
          <a:xfrm>
            <a:off x="1156248" y="5952744"/>
            <a:ext cx="15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F2EDE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章 四 · 12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2974502" y="6056952"/>
            <a:ext cx="400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4EF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誓与密码共存亡</a:t>
            </a:r>
            <a:endParaRPr lang="en-US" sz="1800" dirty="0"/>
          </a:p>
        </p:txBody>
      </p:sp>
      <p:pic>
        <p:nvPicPr>
          <p:cNvPr id="30" name="Image 4" descr="C:\Users\29264\Desktop\思政课ppt\素材-v2\assets\ico-lock-F4EFE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2221" y="5871913"/>
            <a:ext cx="502920" cy="502920"/>
          </a:xfrm>
          <a:prstGeom prst="rect">
            <a:avLst/>
          </a:prstGeom>
        </p:spPr>
      </p:pic>
      <p:sp>
        <p:nvSpPr>
          <p:cNvPr id="31" name="Shape 9"/>
          <p:cNvSpPr/>
          <p:nvPr/>
        </p:nvSpPr>
        <p:spPr>
          <a:xfrm>
            <a:off x="863639" y="1874520"/>
            <a:ext cx="5696957" cy="658368"/>
          </a:xfrm>
          <a:prstGeom prst="roundRect">
            <a:avLst>
              <a:gd name="adj" fmla="val 8333"/>
            </a:avLst>
          </a:prstGeom>
          <a:solidFill>
            <a:srgbClr val="E2D9C6"/>
          </a:solidFill>
          <a:ln w="9525">
            <a:solidFill>
              <a:srgbClr val="C9C2B6"/>
            </a:solidFill>
            <a:prstDash val="solid"/>
          </a:ln>
          <a:effectLst>
            <a:outerShdw blurRad="88900" dist="38100" dir="2700000" algn="bl" rotWithShape="0">
              <a:srgbClr val="1C1A16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1" name="Text 10"/>
          <p:cNvSpPr/>
          <p:nvPr/>
        </p:nvSpPr>
        <p:spPr>
          <a:xfrm>
            <a:off x="1156248" y="2135879"/>
            <a:ext cx="15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kern="0" spc="200" dirty="0">
                <a:solidFill>
                  <a:srgbClr val="8A8F9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人物介绍 · 04</a:t>
            </a:r>
            <a:endParaRPr lang="en-US" sz="1100" dirty="0"/>
          </a:p>
        </p:txBody>
      </p:sp>
      <p:sp>
        <p:nvSpPr>
          <p:cNvPr id="31" name="Text 11"/>
          <p:cNvSpPr/>
          <p:nvPr/>
        </p:nvSpPr>
        <p:spPr>
          <a:xfrm>
            <a:off x="2724235" y="2126928"/>
            <a:ext cx="345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1923—1939　一个冀南农家女孩的十六年</a:t>
            </a:r>
            <a:endParaRPr lang="en-US" sz="1800" dirty="0"/>
          </a:p>
        </p:txBody>
      </p:sp>
      <p:pic>
        <p:nvPicPr>
          <p:cNvPr id="31" name="Image 1" descr="C:\Users\29264\Desktop\思政课ppt\素材-v2\assets\ico-users-B4452F.png"/>
          <p:cNvPicPr>
            <a:picLocks noChangeAspect="1"/>
          </p:cNvPicPr>
          <p:nvPr/>
        </p:nvPicPr>
        <p:blipFill>
          <a:blip r:embed="rId900"/>
          <a:stretch>
            <a:fillRect/>
          </a:stretch>
        </p:blipFill>
        <p:spPr>
          <a:xfrm>
            <a:off x="5882221" y="1958192"/>
            <a:ext cx="502920" cy="502920"/>
          </a:xfrm>
          <a:prstGeom prst="rect">
            <a:avLst/>
          </a:prstGeom>
        </p:spPr>
      </p:pic>
      <p:sp>
        <p:nvSpPr>
          <p:cNvPr id="31" name="Shape 12"/>
          <p:cNvSpPr/>
          <p:nvPr/>
        </p:nvSpPr>
        <p:spPr>
          <a:xfrm>
            <a:off x="1119672" y="2660904"/>
            <a:ext cx="1234440" cy="274320"/>
          </a:xfrm>
          <a:prstGeom prst="roundRect">
            <a:avLst>
              <a:gd name="adj" fmla="val 13333"/>
            </a:avLst>
          </a:prstGeom>
          <a:solidFill>
            <a:srgbClr val="E2D9C6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 0" descr="C:\Users\29264\Desktop\思政课ppt\素材-v2\images\tex-xuanz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kern="0" spc="400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章 一　·　先认识这个人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1923—1939：一个冀南农家女孩的十六年</a:t>
            </a:r>
            <a:endParaRPr lang="en-US" sz="2900" dirty="0"/>
          </a:p>
        </p:txBody>
      </p:sp>
      <p:sp>
        <p:nvSpPr>
          <p:cNvPr id="9" name="Text 5"/>
          <p:cNvSpPr/>
          <p:nvPr/>
        </p:nvSpPr>
        <p:spPr>
          <a:xfrm>
            <a:off x="620000" y="1265000"/>
            <a:ext cx="53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河北静海县刘祥庄村 · 今属天津市静海区蔡公庄镇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64008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出　生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40080" y="18288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1923 年 8 月生，家里排行第三，因家贫辍学。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640080" y="2395728"/>
            <a:ext cx="2331720" cy="603504"/>
          </a:xfrm>
          <a:prstGeom prst="roundRect">
            <a:avLst>
              <a:gd name="adj" fmla="val 9091"/>
            </a:avLst>
          </a:prstGeom>
          <a:solidFill>
            <a:srgbClr val="E2D9C6"/>
          </a:solidFill>
          <a:ln w="12700">
            <a:solidFill>
              <a:srgbClr val="B4452F"/>
            </a:solidFill>
            <a:prstDash val="solid"/>
          </a:ln>
          <a:effectLst>
            <a:outerShdw blurRad="63500" dist="25400" dir="2700000" algn="bl" rotWithShape="0">
              <a:srgbClr val="1C1A16">
                <a:alpha val="18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40080" y="248716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4452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引路人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40080" y="32918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叔父董秋斯 —— 翻译家、中共地下党员。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640080" y="3703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"/>
              </a:lnSpc>
              <a:buNone/>
            </a:pPr>
            <a:r>
              <a:rPr lang="en-US" sz="145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是他让这几个姑娘知道，外面有一个正在找人的中国。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640080" y="4434840"/>
            <a:ext cx="5074920" cy="868680"/>
          </a:xfrm>
          <a:prstGeom prst="roundRect">
            <a:avLst>
              <a:gd name="adj" fmla="val 6316"/>
            </a:avLst>
          </a:prstGeom>
          <a:solidFill>
            <a:srgbClr val="B4452F"/>
          </a:solidFill>
          <a:ln/>
          <a:effectLst>
            <a:outerShdw blurRad="88900" dist="50800" dir="2700000" algn="bl" rotWithShape="0">
              <a:srgbClr val="1C1A16">
                <a:alpha val="30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1481328" y="443484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4EF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1939 年春，16 岁的她决定动身，去延安。</a:t>
            </a:r>
            <a:endParaRPr lang="en-US" sz="1500" dirty="0"/>
          </a:p>
        </p:txBody>
      </p:sp>
      <p:sp>
        <p:nvSpPr>
          <p:cNvPr id="24" name="Text 6"/>
          <p:cNvSpPr/>
          <p:nvPr/>
        </p:nvSpPr>
        <p:spPr>
          <a:xfrm>
            <a:off x="6700000" y="1500000"/>
            <a:ext cx="49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她身边的人</a:t>
            </a:r>
            <a:endParaRPr lang="en-US" sz="1100" dirty="0"/>
          </a:p>
        </p:txBody>
      </p:sp>
      <p:sp>
        <p:nvSpPr>
          <p:cNvPr id="25" name="Text 7"/>
          <p:cNvSpPr/>
          <p:nvPr/>
        </p:nvSpPr>
        <p:spPr>
          <a:xfrm>
            <a:off x="6700000" y="1950000"/>
            <a:ext cx="490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叔父　董秋斯　　翻译家 · 中共地下党员</a:t>
            </a:r>
            <a:endParaRPr lang="en-US" sz="1700" dirty="0"/>
          </a:p>
        </p:txBody>
      </p:sp>
      <p:sp>
        <p:nvSpPr>
          <p:cNvPr id="26" name="Text 7"/>
          <p:cNvSpPr/>
          <p:nvPr/>
        </p:nvSpPr>
        <p:spPr>
          <a:xfrm>
            <a:off x="6700000" y="2590000"/>
            <a:ext cx="490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大姐　董清民　　1939 年倒在途中</a:t>
            </a:r>
            <a:endParaRPr lang="en-US" sz="1700" dirty="0"/>
          </a:p>
        </p:txBody>
      </p:sp>
      <p:sp>
        <p:nvSpPr>
          <p:cNvPr id="27" name="Text 7"/>
          <p:cNvSpPr/>
          <p:nvPr/>
        </p:nvSpPr>
        <p:spPr>
          <a:xfrm>
            <a:off x="6700000" y="3230000"/>
            <a:ext cx="490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二姐　董仲民　　与她同赴延安</a:t>
            </a:r>
            <a:endParaRPr lang="en-US" sz="1700" dirty="0"/>
          </a:p>
        </p:txBody>
      </p:sp>
      <p:sp>
        <p:nvSpPr>
          <p:cNvPr id="28" name="Text 7"/>
          <p:cNvSpPr/>
          <p:nvPr/>
        </p:nvSpPr>
        <p:spPr>
          <a:xfrm>
            <a:off x="6700000" y="3870000"/>
            <a:ext cx="490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丈夫　钟琪　　　同科译电员 · 1942 年结婚</a:t>
            </a:r>
            <a:endParaRPr lang="en-US" sz="1700" dirty="0"/>
          </a:p>
        </p:txBody>
      </p:sp>
      <p:sp>
        <p:nvSpPr>
          <p:cNvPr id="29" name="Text 7"/>
          <p:cNvSpPr/>
          <p:nvPr/>
        </p:nvSpPr>
        <p:spPr>
          <a:xfrm>
            <a:off x="6700000" y="4510000"/>
            <a:ext cx="490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儿子　明明　　　1943 年生 · 牺牲时两岁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29264\Desktop\思政课ppt\素材-v2\images\tex-xuanzh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kern="0" spc="400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章 一　·　CH.1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千百万人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640080" y="129844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「为了千百万人能够得到解放」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2913736" y="1965960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913736" y="20208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为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3444088" y="1965960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44088" y="20208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了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3974440" y="1965960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974440" y="20208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千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4504792" y="1965960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04792" y="20208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百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5035144" y="1965960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35144" y="20208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万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5565496" y="1965960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565496" y="20208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人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6095848" y="1965960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95848" y="20208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6626200" y="1965960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26200" y="20208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够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7156552" y="1965960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56552" y="20208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得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7686904" y="1965960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686904" y="20208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到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8217256" y="1965960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217256" y="20208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解</a:t>
            </a:r>
            <a:endParaRPr lang="en-US" sz="1700" dirty="0"/>
          </a:p>
        </p:txBody>
      </p:sp>
      <p:sp>
        <p:nvSpPr>
          <p:cNvPr id="28" name="Shape 25"/>
          <p:cNvSpPr/>
          <p:nvPr/>
        </p:nvSpPr>
        <p:spPr>
          <a:xfrm>
            <a:off x="8747608" y="1965960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747608" y="20208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放</a:t>
            </a:r>
            <a:endParaRPr lang="en-US" sz="1700" dirty="0"/>
          </a:p>
        </p:txBody>
      </p:sp>
      <p:sp>
        <p:nvSpPr>
          <p:cNvPr id="30" name="Shape 27"/>
          <p:cNvSpPr/>
          <p:nvPr/>
        </p:nvSpPr>
        <p:spPr>
          <a:xfrm>
            <a:off x="3444088" y="2551176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444088" y="26060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为</a:t>
            </a:r>
            <a:endParaRPr lang="en-US" sz="1700" dirty="0"/>
          </a:p>
        </p:txBody>
      </p:sp>
      <p:sp>
        <p:nvSpPr>
          <p:cNvPr id="32" name="Shape 29"/>
          <p:cNvSpPr/>
          <p:nvPr/>
        </p:nvSpPr>
        <p:spPr>
          <a:xfrm>
            <a:off x="3974440" y="2551176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974440" y="26060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了</a:t>
            </a:r>
            <a:endParaRPr lang="en-US" sz="1700" dirty="0"/>
          </a:p>
        </p:txBody>
      </p:sp>
      <p:sp>
        <p:nvSpPr>
          <p:cNvPr id="34" name="Shape 31"/>
          <p:cNvSpPr/>
          <p:nvPr/>
        </p:nvSpPr>
        <p:spPr>
          <a:xfrm>
            <a:off x="4504792" y="2551176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04792" y="26060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实</a:t>
            </a:r>
            <a:endParaRPr lang="en-US" sz="1700" dirty="0"/>
          </a:p>
        </p:txBody>
      </p:sp>
      <p:sp>
        <p:nvSpPr>
          <p:cNvPr id="36" name="Shape 33"/>
          <p:cNvSpPr/>
          <p:nvPr/>
        </p:nvSpPr>
        <p:spPr>
          <a:xfrm>
            <a:off x="5035144" y="2551176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035144" y="26060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现</a:t>
            </a:r>
            <a:endParaRPr lang="en-US" sz="1700" dirty="0"/>
          </a:p>
        </p:txBody>
      </p:sp>
      <p:sp>
        <p:nvSpPr>
          <p:cNvPr id="38" name="Shape 35"/>
          <p:cNvSpPr/>
          <p:nvPr/>
        </p:nvSpPr>
        <p:spPr>
          <a:xfrm>
            <a:off x="5565496" y="2551176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565496" y="26060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共</a:t>
            </a:r>
            <a:endParaRPr lang="en-US" sz="1700" dirty="0"/>
          </a:p>
        </p:txBody>
      </p:sp>
      <p:sp>
        <p:nvSpPr>
          <p:cNvPr id="40" name="Shape 37"/>
          <p:cNvSpPr/>
          <p:nvPr/>
        </p:nvSpPr>
        <p:spPr>
          <a:xfrm>
            <a:off x="6095848" y="2551176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095848" y="26060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产</a:t>
            </a:r>
            <a:endParaRPr lang="en-US" sz="1700" dirty="0"/>
          </a:p>
        </p:txBody>
      </p:sp>
      <p:sp>
        <p:nvSpPr>
          <p:cNvPr id="42" name="Shape 39"/>
          <p:cNvSpPr/>
          <p:nvPr/>
        </p:nvSpPr>
        <p:spPr>
          <a:xfrm>
            <a:off x="6626200" y="2551176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626200" y="26060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主</a:t>
            </a:r>
            <a:endParaRPr lang="en-US" sz="1700" dirty="0"/>
          </a:p>
        </p:txBody>
      </p:sp>
      <p:sp>
        <p:nvSpPr>
          <p:cNvPr id="44" name="Shape 41"/>
          <p:cNvSpPr/>
          <p:nvPr/>
        </p:nvSpPr>
        <p:spPr>
          <a:xfrm>
            <a:off x="7156552" y="2551176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156552" y="26060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义</a:t>
            </a:r>
            <a:endParaRPr lang="en-US" sz="1700" dirty="0"/>
          </a:p>
        </p:txBody>
      </p:sp>
      <p:sp>
        <p:nvSpPr>
          <p:cNvPr id="46" name="Shape 43"/>
          <p:cNvSpPr/>
          <p:nvPr/>
        </p:nvSpPr>
        <p:spPr>
          <a:xfrm>
            <a:off x="7686904" y="2551176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686904" y="26060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理</a:t>
            </a:r>
            <a:endParaRPr lang="en-US" sz="1700" dirty="0"/>
          </a:p>
        </p:txBody>
      </p:sp>
      <p:sp>
        <p:nvSpPr>
          <p:cNvPr id="48" name="Shape 45"/>
          <p:cNvSpPr/>
          <p:nvPr/>
        </p:nvSpPr>
        <p:spPr>
          <a:xfrm>
            <a:off x="8217256" y="2551176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8217256" y="26060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想</a:t>
            </a:r>
            <a:endParaRPr lang="en-US" sz="1700" dirty="0"/>
          </a:p>
        </p:txBody>
      </p:sp>
      <p:sp>
        <p:nvSpPr>
          <p:cNvPr id="50" name="Shape 47"/>
          <p:cNvSpPr/>
          <p:nvPr/>
        </p:nvSpPr>
        <p:spPr>
          <a:xfrm>
            <a:off x="1322680" y="3136392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322680" y="31912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宁</a:t>
            </a:r>
            <a:endParaRPr lang="en-US" sz="1700" dirty="0"/>
          </a:p>
        </p:txBody>
      </p:sp>
      <p:sp>
        <p:nvSpPr>
          <p:cNvPr id="52" name="Shape 49"/>
          <p:cNvSpPr/>
          <p:nvPr/>
        </p:nvSpPr>
        <p:spPr>
          <a:xfrm>
            <a:off x="1853032" y="3136392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1853032" y="31912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</a:t>
            </a:r>
            <a:endParaRPr lang="en-US" sz="1700" dirty="0"/>
          </a:p>
        </p:txBody>
      </p:sp>
      <p:sp>
        <p:nvSpPr>
          <p:cNvPr id="54" name="Shape 51"/>
          <p:cNvSpPr/>
          <p:nvPr/>
        </p:nvSpPr>
        <p:spPr>
          <a:xfrm>
            <a:off x="2383384" y="3136392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2383384" y="31912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牺</a:t>
            </a:r>
            <a:endParaRPr lang="en-US" sz="1700" dirty="0"/>
          </a:p>
        </p:txBody>
      </p:sp>
      <p:sp>
        <p:nvSpPr>
          <p:cNvPr id="56" name="Shape 53"/>
          <p:cNvSpPr/>
          <p:nvPr/>
        </p:nvSpPr>
        <p:spPr>
          <a:xfrm>
            <a:off x="2913736" y="3136392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2913736" y="31912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牲</a:t>
            </a:r>
            <a:endParaRPr lang="en-US" sz="1700" dirty="0"/>
          </a:p>
        </p:txBody>
      </p:sp>
      <p:sp>
        <p:nvSpPr>
          <p:cNvPr id="58" name="Shape 55"/>
          <p:cNvSpPr/>
          <p:nvPr/>
        </p:nvSpPr>
        <p:spPr>
          <a:xfrm>
            <a:off x="3444088" y="3136392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3444088" y="31912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自</a:t>
            </a:r>
            <a:endParaRPr lang="en-US" sz="1700" dirty="0"/>
          </a:p>
        </p:txBody>
      </p:sp>
      <p:sp>
        <p:nvSpPr>
          <p:cNvPr id="60" name="Shape 57"/>
          <p:cNvSpPr/>
          <p:nvPr/>
        </p:nvSpPr>
        <p:spPr>
          <a:xfrm>
            <a:off x="3974440" y="3136392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3974440" y="31912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己</a:t>
            </a:r>
            <a:endParaRPr lang="en-US" sz="1700" dirty="0"/>
          </a:p>
        </p:txBody>
      </p:sp>
      <p:sp>
        <p:nvSpPr>
          <p:cNvPr id="62" name="Shape 59"/>
          <p:cNvSpPr/>
          <p:nvPr/>
        </p:nvSpPr>
        <p:spPr>
          <a:xfrm>
            <a:off x="4504792" y="3136392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4504792" y="31912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</a:t>
            </a:r>
            <a:endParaRPr lang="en-US" sz="1700" dirty="0"/>
          </a:p>
        </p:txBody>
      </p:sp>
      <p:sp>
        <p:nvSpPr>
          <p:cNvPr id="64" name="Shape 61"/>
          <p:cNvSpPr/>
          <p:nvPr/>
        </p:nvSpPr>
        <p:spPr>
          <a:xfrm>
            <a:off x="5035144" y="3136392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5035144" y="31912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性</a:t>
            </a:r>
            <a:endParaRPr lang="en-US" sz="1700" dirty="0"/>
          </a:p>
        </p:txBody>
      </p:sp>
      <p:sp>
        <p:nvSpPr>
          <p:cNvPr id="66" name="Shape 63"/>
          <p:cNvSpPr/>
          <p:nvPr/>
        </p:nvSpPr>
        <p:spPr>
          <a:xfrm>
            <a:off x="5565496" y="3136392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565496" y="31912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命</a:t>
            </a:r>
            <a:endParaRPr lang="en-US" sz="1700" dirty="0"/>
          </a:p>
        </p:txBody>
      </p:sp>
      <p:sp>
        <p:nvSpPr>
          <p:cNvPr id="68" name="Shape 65"/>
          <p:cNvSpPr/>
          <p:nvPr/>
        </p:nvSpPr>
        <p:spPr>
          <a:xfrm>
            <a:off x="6095848" y="3136392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6095848" y="31912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也</a:t>
            </a:r>
            <a:endParaRPr lang="en-US" sz="1700" dirty="0"/>
          </a:p>
        </p:txBody>
      </p:sp>
      <p:sp>
        <p:nvSpPr>
          <p:cNvPr id="70" name="Shape 67"/>
          <p:cNvSpPr/>
          <p:nvPr/>
        </p:nvSpPr>
        <p:spPr>
          <a:xfrm>
            <a:off x="6626200" y="3136392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6626200" y="31912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绝</a:t>
            </a:r>
            <a:endParaRPr lang="en-US" sz="1700" dirty="0"/>
          </a:p>
        </p:txBody>
      </p:sp>
      <p:sp>
        <p:nvSpPr>
          <p:cNvPr id="72" name="Shape 69"/>
          <p:cNvSpPr/>
          <p:nvPr/>
        </p:nvSpPr>
        <p:spPr>
          <a:xfrm>
            <a:off x="7156552" y="3136392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7156552" y="31912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</a:t>
            </a:r>
            <a:endParaRPr lang="en-US" sz="1700" dirty="0"/>
          </a:p>
        </p:txBody>
      </p:sp>
      <p:sp>
        <p:nvSpPr>
          <p:cNvPr id="74" name="Shape 71"/>
          <p:cNvSpPr/>
          <p:nvPr/>
        </p:nvSpPr>
        <p:spPr>
          <a:xfrm>
            <a:off x="7686904" y="3136392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7686904" y="31912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泄</a:t>
            </a:r>
            <a:endParaRPr lang="en-US" sz="1700" dirty="0"/>
          </a:p>
        </p:txBody>
      </p:sp>
      <p:sp>
        <p:nvSpPr>
          <p:cNvPr id="76" name="Shape 73"/>
          <p:cNvSpPr/>
          <p:nvPr/>
        </p:nvSpPr>
        <p:spPr>
          <a:xfrm>
            <a:off x="8217256" y="3136392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8217256" y="31912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露</a:t>
            </a:r>
            <a:endParaRPr lang="en-US" sz="1700" dirty="0"/>
          </a:p>
        </p:txBody>
      </p:sp>
      <p:sp>
        <p:nvSpPr>
          <p:cNvPr id="78" name="Shape 75"/>
          <p:cNvSpPr/>
          <p:nvPr/>
        </p:nvSpPr>
        <p:spPr>
          <a:xfrm>
            <a:off x="8747608" y="3136392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8747608" y="31912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党</a:t>
            </a:r>
            <a:endParaRPr lang="en-US" sz="1700" dirty="0"/>
          </a:p>
        </p:txBody>
      </p:sp>
      <p:sp>
        <p:nvSpPr>
          <p:cNvPr id="80" name="Shape 77"/>
          <p:cNvSpPr/>
          <p:nvPr/>
        </p:nvSpPr>
        <p:spPr>
          <a:xfrm>
            <a:off x="9277960" y="3136392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9277960" y="31912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</a:t>
            </a:r>
            <a:endParaRPr lang="en-US" sz="1700" dirty="0"/>
          </a:p>
        </p:txBody>
      </p:sp>
      <p:sp>
        <p:nvSpPr>
          <p:cNvPr id="82" name="Shape 79"/>
          <p:cNvSpPr/>
          <p:nvPr/>
        </p:nvSpPr>
        <p:spPr>
          <a:xfrm>
            <a:off x="9808312" y="3136392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9808312" y="31912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机</a:t>
            </a:r>
            <a:endParaRPr lang="en-US" sz="1700" dirty="0"/>
          </a:p>
        </p:txBody>
      </p:sp>
      <p:sp>
        <p:nvSpPr>
          <p:cNvPr id="84" name="Shape 81"/>
          <p:cNvSpPr/>
          <p:nvPr/>
        </p:nvSpPr>
        <p:spPr>
          <a:xfrm>
            <a:off x="10338664" y="3136392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10338664" y="31912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密</a:t>
            </a:r>
            <a:endParaRPr lang="en-US" sz="1700" dirty="0"/>
          </a:p>
        </p:txBody>
      </p:sp>
      <p:sp>
        <p:nvSpPr>
          <p:cNvPr id="86" name="Shape 83"/>
          <p:cNvSpPr/>
          <p:nvPr/>
        </p:nvSpPr>
        <p:spPr>
          <a:xfrm>
            <a:off x="4239616" y="3721608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4239616" y="37764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誓</a:t>
            </a:r>
            <a:endParaRPr lang="en-US" sz="1700" dirty="0"/>
          </a:p>
        </p:txBody>
      </p:sp>
      <p:sp>
        <p:nvSpPr>
          <p:cNvPr id="88" name="Shape 85"/>
          <p:cNvSpPr/>
          <p:nvPr/>
        </p:nvSpPr>
        <p:spPr>
          <a:xfrm>
            <a:off x="4769968" y="3721608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4769968" y="37764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与</a:t>
            </a:r>
            <a:endParaRPr lang="en-US" sz="1700" dirty="0"/>
          </a:p>
        </p:txBody>
      </p:sp>
      <p:sp>
        <p:nvSpPr>
          <p:cNvPr id="90" name="Shape 87"/>
          <p:cNvSpPr/>
          <p:nvPr/>
        </p:nvSpPr>
        <p:spPr>
          <a:xfrm>
            <a:off x="5300320" y="3721608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5300320" y="37764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密</a:t>
            </a:r>
            <a:endParaRPr lang="en-US" sz="1700" dirty="0"/>
          </a:p>
        </p:txBody>
      </p:sp>
      <p:sp>
        <p:nvSpPr>
          <p:cNvPr id="92" name="Shape 89"/>
          <p:cNvSpPr/>
          <p:nvPr/>
        </p:nvSpPr>
        <p:spPr>
          <a:xfrm>
            <a:off x="5830672" y="3721608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5830672" y="37764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码</a:t>
            </a:r>
            <a:endParaRPr lang="en-US" sz="1700" dirty="0"/>
          </a:p>
        </p:txBody>
      </p:sp>
      <p:sp>
        <p:nvSpPr>
          <p:cNvPr id="94" name="Shape 91"/>
          <p:cNvSpPr/>
          <p:nvPr/>
        </p:nvSpPr>
        <p:spPr>
          <a:xfrm>
            <a:off x="6361024" y="3721608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6361024" y="37764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共</a:t>
            </a:r>
            <a:endParaRPr lang="en-US" sz="1700" dirty="0"/>
          </a:p>
        </p:txBody>
      </p:sp>
      <p:sp>
        <p:nvSpPr>
          <p:cNvPr id="96" name="Shape 93"/>
          <p:cNvSpPr/>
          <p:nvPr/>
        </p:nvSpPr>
        <p:spPr>
          <a:xfrm>
            <a:off x="6891376" y="3721608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6891376" y="37764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存</a:t>
            </a:r>
            <a:endParaRPr lang="en-US" sz="1700" dirty="0"/>
          </a:p>
        </p:txBody>
      </p:sp>
      <p:sp>
        <p:nvSpPr>
          <p:cNvPr id="98" name="Shape 95"/>
          <p:cNvSpPr/>
          <p:nvPr/>
        </p:nvSpPr>
        <p:spPr>
          <a:xfrm>
            <a:off x="7421728" y="3721608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7421728" y="37764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亡</a:t>
            </a:r>
            <a:endParaRPr lang="en-US" sz="1700" dirty="0"/>
          </a:p>
        </p:txBody>
      </p:sp>
      <p:sp>
        <p:nvSpPr>
          <p:cNvPr id="100" name="Shape 97"/>
          <p:cNvSpPr/>
          <p:nvPr/>
        </p:nvSpPr>
        <p:spPr>
          <a:xfrm>
            <a:off x="8272120" y="3721608"/>
            <a:ext cx="530352" cy="530352"/>
          </a:xfrm>
          <a:prstGeom prst="rect">
            <a:avLst/>
          </a:prstGeom>
          <a:solidFill>
            <a:srgbClr val="EDE7DA">
              <a:alpha val="70000"/>
            </a:srgbClr>
          </a:solidFill>
          <a:ln w="19050">
            <a:solidFill>
              <a:srgbClr val="B4452F"/>
            </a:solidFill>
            <a:prstDash val="dash"/>
          </a:ln>
        </p:spPr>
      </p:sp>
      <p:sp>
        <p:nvSpPr>
          <p:cNvPr id="101" name="Text 98"/>
          <p:cNvSpPr/>
          <p:nvPr/>
        </p:nvSpPr>
        <p:spPr>
          <a:xfrm>
            <a:off x="8272120" y="37673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4452F">
                    <a:alpha val="65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</a:t>
            </a:r>
            <a:endParaRPr lang="en-US" sz="1800" dirty="0"/>
          </a:p>
        </p:txBody>
      </p:sp>
      <p:sp>
        <p:nvSpPr>
          <p:cNvPr id="102" name="Text 99"/>
          <p:cNvSpPr/>
          <p:nvPr/>
        </p:nvSpPr>
        <p:spPr>
          <a:xfrm>
            <a:off x="8912200" y="386791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← 描红格</a:t>
            </a:r>
            <a:endParaRPr lang="en-US" sz="1100" dirty="0"/>
          </a:p>
        </p:txBody>
      </p:sp>
      <p:sp>
        <p:nvSpPr>
          <p:cNvPr id="103" name="Text 100"/>
          <p:cNvSpPr/>
          <p:nvPr/>
        </p:nvSpPr>
        <p:spPr>
          <a:xfrm>
            <a:off x="640080" y="4617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前 22 个字，说的全是别人：千百万人，和纲领里写着的理想。</a:t>
            </a:r>
            <a:endParaRPr lang="en-US" sz="1350" dirty="0"/>
          </a:p>
        </p:txBody>
      </p:sp>
      <p:sp>
        <p:nvSpPr>
          <p:cNvPr id="104" name="Text 101"/>
          <p:cNvSpPr/>
          <p:nvPr/>
        </p:nvSpPr>
        <p:spPr>
          <a:xfrm>
            <a:off x="640080" y="50292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B4452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唯独「我」，不在这 47 个字里 —— 它要读的人，自己填。</a:t>
            </a:r>
            <a:endParaRPr lang="en-US" sz="1700" dirty="0"/>
          </a:p>
        </p:txBody>
      </p:sp>
      <p:sp>
        <p:nvSpPr>
          <p:cNvPr id="105" name="Text 102"/>
          <p:cNvSpPr/>
          <p:nvPr/>
        </p:nvSpPr>
        <p:spPr>
          <a:xfrm>
            <a:off x="640080" y="5577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「我」不在句子里。19 岁的董健民没把自己算进去，钟琪也没有。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29264\Desktop\思政课ppt\素材-v2\images\tex-xuanzh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452F">
              <a:alpha val="6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kern="0" spc="400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章 一　·　千百万人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她走了两万里，去救她不认识的人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640080" y="148132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40080" y="19385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个月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2468880" y="148132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约 2 万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468880" y="19385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里路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297680" y="148132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800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4297680" y="19385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里末程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126480" y="148132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→ 2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126480" y="19385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人到延安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1298448" y="3977640"/>
            <a:ext cx="1609344" cy="365760"/>
          </a:xfrm>
          <a:prstGeom prst="line">
            <a:avLst/>
          </a:prstGeom>
          <a:noFill/>
          <a:ln w="22225">
            <a:solidFill>
              <a:srgbClr val="B4452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flipV="1">
            <a:off x="3127248" y="3611880"/>
            <a:ext cx="1609344" cy="731520"/>
          </a:xfrm>
          <a:prstGeom prst="line">
            <a:avLst/>
          </a:prstGeom>
          <a:noFill/>
          <a:ln w="22225">
            <a:solidFill>
              <a:srgbClr val="B4452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029200" y="3611880"/>
            <a:ext cx="1371600" cy="457200"/>
          </a:xfrm>
          <a:prstGeom prst="line">
            <a:avLst/>
          </a:prstGeom>
          <a:noFill/>
          <a:ln w="12700">
            <a:solidFill>
              <a:srgbClr val="8A8F94"/>
            </a:solidFill>
            <a:prstDash val="dash"/>
          </a:ln>
        </p:spPr>
      </p:sp>
      <p:sp>
        <p:nvSpPr>
          <p:cNvPr id="17" name="Shape 14"/>
          <p:cNvSpPr/>
          <p:nvPr/>
        </p:nvSpPr>
        <p:spPr>
          <a:xfrm flipV="1">
            <a:off x="6601968" y="3154680"/>
            <a:ext cx="1609344" cy="914400"/>
          </a:xfrm>
          <a:prstGeom prst="line">
            <a:avLst/>
          </a:prstGeom>
          <a:noFill/>
          <a:ln w="22225">
            <a:solidFill>
              <a:srgbClr val="B4452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 flipV="1">
            <a:off x="8430768" y="2331720"/>
            <a:ext cx="1792224" cy="822960"/>
          </a:xfrm>
          <a:prstGeom prst="line">
            <a:avLst/>
          </a:prstGeom>
          <a:noFill/>
          <a:ln w="22225">
            <a:solidFill>
              <a:srgbClr val="B4452F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1097280" y="3886200"/>
            <a:ext cx="182880" cy="182880"/>
          </a:xfrm>
          <a:prstGeom prst="ellipse">
            <a:avLst/>
          </a:prstGeom>
          <a:solidFill>
            <a:srgbClr val="B4452F"/>
          </a:solidFill>
          <a:ln w="12700">
            <a:solidFill>
              <a:srgbClr val="F4EFE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5760" y="33192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天津·静海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182880" y="4142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1939 春 · 3 人出发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2926080" y="4251960"/>
            <a:ext cx="182880" cy="182880"/>
          </a:xfrm>
          <a:prstGeom prst="ellipse">
            <a:avLst/>
          </a:prstGeom>
          <a:solidFill>
            <a:srgbClr val="2B2F33"/>
          </a:solidFill>
          <a:ln w="12700">
            <a:solidFill>
              <a:srgbClr val="F4EFE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194560" y="3685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香港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4754880" y="3520440"/>
            <a:ext cx="182880" cy="182880"/>
          </a:xfrm>
          <a:prstGeom prst="ellipse">
            <a:avLst/>
          </a:prstGeom>
          <a:solidFill>
            <a:srgbClr val="2B2F33"/>
          </a:solidFill>
          <a:ln w="12700">
            <a:solidFill>
              <a:srgbClr val="F4EFE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02336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广西凭祥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3840480" y="37764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5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大姐倒在途中</a:t>
            </a:r>
            <a:endParaRPr lang="en-US" sz="1050" dirty="0"/>
          </a:p>
        </p:txBody>
      </p:sp>
      <p:pic>
        <p:nvPicPr>
          <p:cNvPr id="27" name="Image 1" descr="C:\Users\29264\Desktop\思政课ppt\素材-v2\assets\ico-x-B4452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2876" y="3337560"/>
            <a:ext cx="246888" cy="246888"/>
          </a:xfrm>
          <a:prstGeom prst="rect">
            <a:avLst/>
          </a:prstGeom>
        </p:spPr>
      </p:pic>
      <p:sp>
        <p:nvSpPr>
          <p:cNvPr id="28" name="Shape 24"/>
          <p:cNvSpPr/>
          <p:nvPr/>
        </p:nvSpPr>
        <p:spPr>
          <a:xfrm>
            <a:off x="6400800" y="3977640"/>
            <a:ext cx="182880" cy="182880"/>
          </a:xfrm>
          <a:prstGeom prst="ellipse">
            <a:avLst/>
          </a:prstGeom>
          <a:solidFill>
            <a:srgbClr val="2B2F33"/>
          </a:solidFill>
          <a:ln w="12700">
            <a:solidFill>
              <a:srgbClr val="F4EFE4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669280" y="3410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贵阳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8229600" y="3063240"/>
            <a:ext cx="182880" cy="182880"/>
          </a:xfrm>
          <a:prstGeom prst="ellipse">
            <a:avLst/>
          </a:prstGeom>
          <a:solidFill>
            <a:srgbClr val="2B2F33"/>
          </a:solidFill>
          <a:ln w="12700">
            <a:solidFill>
              <a:srgbClr val="F4EFE4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498080" y="24963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西安</a:t>
            </a:r>
            <a:endParaRPr lang="en-US" sz="1250" dirty="0"/>
          </a:p>
        </p:txBody>
      </p:sp>
      <p:sp>
        <p:nvSpPr>
          <p:cNvPr id="32" name="Shape 28"/>
          <p:cNvSpPr/>
          <p:nvPr/>
        </p:nvSpPr>
        <p:spPr>
          <a:xfrm>
            <a:off x="10241280" y="2240280"/>
            <a:ext cx="182880" cy="182880"/>
          </a:xfrm>
          <a:prstGeom prst="ellipse">
            <a:avLst/>
          </a:prstGeom>
          <a:solidFill>
            <a:srgbClr val="B4452F"/>
          </a:solidFill>
          <a:ln w="12700">
            <a:solidFill>
              <a:srgbClr val="F4EFE4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9509760" y="16733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延安</a:t>
            </a:r>
            <a:endParaRPr lang="en-US" sz="1250" dirty="0"/>
          </a:p>
        </p:txBody>
      </p:sp>
      <p:sp>
        <p:nvSpPr>
          <p:cNvPr id="34" name="Text 30"/>
          <p:cNvSpPr/>
          <p:nvPr/>
        </p:nvSpPr>
        <p:spPr>
          <a:xfrm>
            <a:off x="9326880" y="24963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1939.11 · 2 人到达</a:t>
            </a:r>
            <a:endParaRPr lang="en-US" sz="1050" dirty="0"/>
          </a:p>
        </p:txBody>
      </p:sp>
      <p:sp>
        <p:nvSpPr>
          <p:cNvPr id="35" name="Text 31"/>
          <p:cNvSpPr/>
          <p:nvPr/>
        </p:nvSpPr>
        <p:spPr>
          <a:xfrm>
            <a:off x="10213848" y="176479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9A44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★</a:t>
            </a:r>
            <a:endParaRPr lang="en-US" sz="1800" dirty="0"/>
          </a:p>
        </p:txBody>
      </p:sp>
      <p:pic>
        <p:nvPicPr>
          <p:cNvPr id="36" name="Image 2" descr="C:\Users\29264\Desktop\思政课ppt\素材-v2\images\ill-01-ba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892040"/>
            <a:ext cx="12191695" cy="1463040"/>
          </a:xfrm>
          <a:prstGeom prst="rect">
            <a:avLst/>
          </a:prstGeom>
        </p:spPr>
      </p:pic>
      <p:sp>
        <p:nvSpPr>
          <p:cNvPr id="37" name="Shape 32"/>
          <p:cNvSpPr/>
          <p:nvPr/>
        </p:nvSpPr>
        <p:spPr>
          <a:xfrm>
            <a:off x="0" y="4892040"/>
            <a:ext cx="12191695" cy="256032"/>
          </a:xfrm>
          <a:prstGeom prst="rect">
            <a:avLst/>
          </a:prstGeom>
          <a:solidFill>
            <a:srgbClr val="EDE7DA">
              <a:alpha val="65000"/>
            </a:srgbClr>
          </a:solidFill>
          <a:ln/>
        </p:spPr>
      </p:sp>
      <p:sp>
        <p:nvSpPr>
          <p:cNvPr id="38" name="Text 17"/>
          <p:cNvSpPr/>
          <p:nvPr/>
        </p:nvSpPr>
        <p:spPr>
          <a:xfrm>
            <a:off x="5900000" y="5150000"/>
            <a:ext cx="61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为什么走：1939 年华北已经沦陷，一个农家女孩在村里找不到能做事的活路。</a:t>
            </a:r>
            <a:endParaRPr lang="en-US" sz="1250" dirty="0"/>
          </a:p>
        </p:txBody>
      </p:sp>
      <p:sp>
        <p:nvSpPr>
          <p:cNvPr id="39" name="Text 17"/>
          <p:cNvSpPr/>
          <p:nvPr/>
        </p:nvSpPr>
        <p:spPr>
          <a:xfrm>
            <a:off x="5900000" y="5570000"/>
            <a:ext cx="61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往哪去：延安收留这些逃出家的孩子——给饭、给书、给一个方向。</a:t>
            </a:r>
            <a:endParaRPr lang="en-US" sz="1250" dirty="0"/>
          </a:p>
        </p:txBody>
      </p:sp>
      <p:sp>
        <p:nvSpPr>
          <p:cNvPr id="40" name="Text 17"/>
          <p:cNvSpPr/>
          <p:nvPr/>
        </p:nvSpPr>
        <p:spPr>
          <a:xfrm>
            <a:off x="5900000" y="5990000"/>
            <a:ext cx="61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走到之后：1940 年秋，17 岁的董健民在延安加入中国共产党。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29264\Desktop\思政课ppt\素材-v2\images\tex-xuanzh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kern="0" spc="400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章 二　·　CH.2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把理想，变成每天的工作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6126480" y="1463040"/>
            <a:ext cx="5440680" cy="3977640"/>
          </a:xfrm>
          <a:prstGeom prst="rect">
            <a:avLst/>
          </a:prstGeom>
          <a:solidFill>
            <a:srgbClr val="2B2F33"/>
          </a:solidFill>
          <a:ln w="12700">
            <a:solidFill>
              <a:srgbClr val="171A1D"/>
            </a:solidFill>
            <a:prstDash val="solid"/>
          </a:ln>
          <a:effectLst>
            <a:outerShdw blurRad="152400" dist="88900" dir="2700000" algn="bl" rotWithShape="0">
              <a:srgbClr val="1C1A16">
                <a:alpha val="4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382512" y="1719072"/>
            <a:ext cx="4928616" cy="3264408"/>
          </a:xfrm>
          <a:prstGeom prst="rect">
            <a:avLst/>
          </a:prstGeom>
          <a:solidFill>
            <a:srgbClr val="F4EFE4"/>
          </a:solidFill>
          <a:ln/>
        </p:spPr>
      </p:sp>
      <p:pic>
        <p:nvPicPr>
          <p:cNvPr id="7" name="Image 1" descr="C:\Users\29264\Desktop\思政课ppt\素材-v2\images\ill-02-fra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1847088"/>
            <a:ext cx="4672584" cy="300837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382512" y="5020056"/>
            <a:ext cx="2926080" cy="310896"/>
          </a:xfrm>
          <a:prstGeom prst="rect">
            <a:avLst/>
          </a:prstGeom>
          <a:solidFill>
            <a:srgbClr val="E2D9C6"/>
          </a:solidFill>
          <a:ln w="6350">
            <a:solidFill>
              <a:srgbClr val="C9C2B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492240" y="50474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《延安枣园 · 机要科工作台》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64008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岗　位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40080" y="18288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中共中央社会部机要科 · 译电员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640080" y="2395728"/>
            <a:ext cx="2331720" cy="603504"/>
          </a:xfrm>
          <a:prstGeom prst="roundRect">
            <a:avLst>
              <a:gd name="adj" fmla="val 9091"/>
            </a:avLst>
          </a:prstGeom>
          <a:solidFill>
            <a:srgbClr val="E2D9C6"/>
          </a:solidFill>
          <a:ln w="12700">
            <a:solidFill>
              <a:srgbClr val="B4452F"/>
            </a:solidFill>
            <a:prstDash val="solid"/>
          </a:ln>
          <a:effectLst>
            <a:outerShdw blurRad="63500" dist="25400" dir="2700000" algn="bl" rotWithShape="0">
              <a:srgbClr val="1C1A16">
                <a:alpha val="18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40080" y="248716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4452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代号 · 小董</a:t>
            </a:r>
            <a:endParaRPr lang="en-US" sz="1600" dirty="0"/>
          </a:p>
        </p:txBody>
      </p:sp>
      <p:pic>
        <p:nvPicPr>
          <p:cNvPr id="14" name="Image 2" descr="C:\Users\29264\Desktop\思政课ppt\素材-v2\assets\ico-tag-B4452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7248" y="2487168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0080" y="32918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把电码四个数字一组，翻回领导同志的名字。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640080" y="3703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"/>
              </a:lnSpc>
              <a:buNone/>
            </a:pPr>
            <a:r>
              <a:rPr lang="en-US" sz="145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负责联系重庆方向的秘密电台 —— 延安 ⇌ 重庆，电报昼夜不停。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640080" y="4434840"/>
            <a:ext cx="5074920" cy="868680"/>
          </a:xfrm>
          <a:prstGeom prst="roundRect">
            <a:avLst>
              <a:gd name="adj" fmla="val 6316"/>
            </a:avLst>
          </a:prstGeom>
          <a:solidFill>
            <a:srgbClr val="B4452F"/>
          </a:solidFill>
          <a:ln/>
          <a:effectLst>
            <a:outerShdw blurRad="88900" dist="50800" dir="2700000" algn="bl" rotWithShape="0">
              <a:srgbClr val="1C1A16">
                <a:alpha val="30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1481328" y="443484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4EF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错一位数字，一条线路就断，一个接头的人就暴露。</a:t>
            </a:r>
            <a:endParaRPr lang="en-US" sz="1500" dirty="0"/>
          </a:p>
        </p:txBody>
      </p:sp>
      <p:pic>
        <p:nvPicPr>
          <p:cNvPr id="19" name="Image 3" descr="C:\Users\29264\Desktop\思政课ppt\素材-v2\assets\ico-headphones-F4EFE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46177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29264\Desktop\思政课ppt\素材-v2\images\tex-xuanzh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kern="0" spc="400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章 二　·　实　现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制度，是无数人用命换来的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1207008" y="1828800"/>
            <a:ext cx="0" cy="4160520"/>
          </a:xfrm>
          <a:prstGeom prst="line">
            <a:avLst/>
          </a:prstGeom>
          <a:noFill/>
          <a:ln w="22225">
            <a:solidFill>
              <a:srgbClr val="B4452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06424" y="1929384"/>
            <a:ext cx="201168" cy="201168"/>
          </a:xfrm>
          <a:prstGeom prst="ellipse">
            <a:avLst/>
          </a:prstGeom>
          <a:solidFill>
            <a:srgbClr val="B4452F"/>
          </a:solidFill>
          <a:ln w="12700">
            <a:solidFill>
              <a:srgbClr val="F4EF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72768" y="1783080"/>
            <a:ext cx="4160520" cy="896112"/>
          </a:xfrm>
          <a:prstGeom prst="roundRect">
            <a:avLst>
              <a:gd name="adj" fmla="val 5102"/>
            </a:avLst>
          </a:prstGeom>
          <a:solidFill>
            <a:srgbClr val="F4EFE4"/>
          </a:solidFill>
          <a:ln w="9525">
            <a:solidFill>
              <a:srgbClr val="8A8F94"/>
            </a:solidFill>
            <a:prstDash val="solid"/>
          </a:ln>
          <a:effectLst>
            <a:outerShdw blurRad="76200" dist="38100" dir="2700000" algn="bl" rotWithShape="0">
              <a:srgbClr val="1C1A16">
                <a:alpha val="2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737360" y="1856232"/>
            <a:ext cx="219456" cy="137160"/>
          </a:xfrm>
          <a:prstGeom prst="roundRect">
            <a:avLst>
              <a:gd name="adj" fmla="val 20000"/>
            </a:avLst>
          </a:prstGeom>
          <a:ln w="15240">
            <a:solidFill>
              <a:srgbClr val="8A8F9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938528" y="18928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1932.7 · 苏区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938528" y="218541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《七条无线电通信规则》：密码本「要看同自己的生命一样重要」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106424" y="2990088"/>
            <a:ext cx="201168" cy="201168"/>
          </a:xfrm>
          <a:prstGeom prst="ellipse">
            <a:avLst/>
          </a:prstGeom>
          <a:solidFill>
            <a:srgbClr val="B4452F"/>
          </a:solidFill>
          <a:ln w="12700">
            <a:solidFill>
              <a:srgbClr val="F4EFE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572768" y="2843784"/>
            <a:ext cx="4160520" cy="896112"/>
          </a:xfrm>
          <a:prstGeom prst="roundRect">
            <a:avLst>
              <a:gd name="adj" fmla="val 5102"/>
            </a:avLst>
          </a:prstGeom>
          <a:solidFill>
            <a:srgbClr val="F4EFE4"/>
          </a:solidFill>
          <a:ln w="9525">
            <a:solidFill>
              <a:srgbClr val="8A8F94"/>
            </a:solidFill>
            <a:prstDash val="solid"/>
          </a:ln>
          <a:effectLst>
            <a:outerShdw blurRad="76200" dist="38100" dir="2700000" algn="bl" rotWithShape="0">
              <a:srgbClr val="1C1A16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737360" y="2916936"/>
            <a:ext cx="219456" cy="137160"/>
          </a:xfrm>
          <a:prstGeom prst="roundRect">
            <a:avLst>
              <a:gd name="adj" fmla="val 20000"/>
            </a:avLst>
          </a:prstGeom>
          <a:ln w="15240">
            <a:solidFill>
              <a:srgbClr val="8A8F9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938528" y="29535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1940.12 · 延安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938528" y="3246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毛泽东、朱德致电项英：「不留机密文件片纸只字」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106424" y="4050792"/>
            <a:ext cx="201168" cy="201168"/>
          </a:xfrm>
          <a:prstGeom prst="ellipse">
            <a:avLst/>
          </a:prstGeom>
          <a:solidFill>
            <a:srgbClr val="B4452F"/>
          </a:solidFill>
          <a:ln w="12700">
            <a:solidFill>
              <a:srgbClr val="F4EFE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572768" y="3904488"/>
            <a:ext cx="4160520" cy="896112"/>
          </a:xfrm>
          <a:prstGeom prst="roundRect">
            <a:avLst>
              <a:gd name="adj" fmla="val 5102"/>
            </a:avLst>
          </a:prstGeom>
          <a:solidFill>
            <a:srgbClr val="F4EFE4"/>
          </a:solidFill>
          <a:ln w="9525">
            <a:solidFill>
              <a:srgbClr val="8A8F94"/>
            </a:solidFill>
            <a:prstDash val="solid"/>
          </a:ln>
          <a:effectLst>
            <a:outerShdw blurRad="76200" dist="38100" dir="2700000" algn="bl" rotWithShape="0">
              <a:srgbClr val="1C1A16">
                <a:alpha val="2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737360" y="3977640"/>
            <a:ext cx="219456" cy="137160"/>
          </a:xfrm>
          <a:prstGeom prst="roundRect">
            <a:avLst>
              <a:gd name="adj" fmla="val 20000"/>
            </a:avLst>
          </a:prstGeom>
          <a:ln w="15240">
            <a:solidFill>
              <a:srgbClr val="8A8F9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938528" y="40142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1941 · 延安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938528" y="430682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毛泽东为中央军委机要处题词：「保守机密，慎之又慎」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1106424" y="5111496"/>
            <a:ext cx="201168" cy="201168"/>
          </a:xfrm>
          <a:prstGeom prst="ellipse">
            <a:avLst/>
          </a:prstGeom>
          <a:solidFill>
            <a:srgbClr val="B4452F"/>
          </a:solidFill>
          <a:ln w="12700">
            <a:solidFill>
              <a:srgbClr val="F4EFE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572768" y="4965192"/>
            <a:ext cx="4160520" cy="896112"/>
          </a:xfrm>
          <a:prstGeom prst="roundRect">
            <a:avLst>
              <a:gd name="adj" fmla="val 5102"/>
            </a:avLst>
          </a:prstGeom>
          <a:solidFill>
            <a:srgbClr val="F4EFE4"/>
          </a:solidFill>
          <a:ln w="9525">
            <a:solidFill>
              <a:srgbClr val="8A8F94"/>
            </a:solidFill>
            <a:prstDash val="solid"/>
          </a:ln>
          <a:effectLst>
            <a:outerShdw blurRad="76200" dist="38100" dir="2700000" algn="bl" rotWithShape="0">
              <a:srgbClr val="1C1A16">
                <a:alpha val="2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1737360" y="5038344"/>
            <a:ext cx="219456" cy="137160"/>
          </a:xfrm>
          <a:prstGeom prst="roundRect">
            <a:avLst>
              <a:gd name="adj" fmla="val 20000"/>
            </a:avLst>
          </a:prstGeom>
          <a:ln w="15240">
            <a:solidFill>
              <a:srgbClr val="8A8F9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938528" y="5074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2025 · 现行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938528" y="53675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《密码法》《保守国家秘密法》。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49224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译 电 · DECRYPT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492240" y="2103120"/>
            <a:ext cx="4846320" cy="2286000"/>
          </a:xfrm>
          <a:prstGeom prst="roundRect">
            <a:avLst>
              <a:gd name="adj" fmla="val 2000"/>
            </a:avLst>
          </a:prstGeom>
          <a:solidFill>
            <a:srgbClr val="F4EFE4"/>
          </a:solidFill>
          <a:ln w="9525">
            <a:solidFill>
              <a:srgbClr val="8A8F94"/>
            </a:solidFill>
            <a:prstDash val="solid"/>
          </a:ln>
          <a:effectLst>
            <a:outerShdw blurRad="76200" dist="38100" dir="2700000" algn="bl" rotWithShape="0">
              <a:srgbClr val="1C1A16">
                <a:alpha val="20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720840" y="23774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B2F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0472　　1163</a:t>
            </a:r>
            <a:endParaRPr lang="en-US" sz="3000" dirty="0"/>
          </a:p>
        </p:txBody>
      </p:sp>
      <p:pic>
        <p:nvPicPr>
          <p:cNvPr id="29" name="Image 1" descr="C:\Users\29264\Desktop\思政课ppt\素材-v2\assets\ico-arrow-right-B4452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0" y="2999232"/>
            <a:ext cx="640080" cy="64008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6720840" y="36118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B4452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生　　命</a:t>
            </a:r>
            <a:endParaRPr lang="en-US" sz="4000" dirty="0"/>
          </a:p>
        </p:txBody>
      </p:sp>
      <p:sp>
        <p:nvSpPr>
          <p:cNvPr id="31" name="Text 27"/>
          <p:cNvSpPr/>
          <p:nvPr/>
        </p:nvSpPr>
        <p:spPr>
          <a:xfrm>
            <a:off x="6492240" y="46177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"/>
              </a:lnSpc>
              <a:buNone/>
            </a:pPr>
            <a:r>
              <a:rPr lang="en-US" sz="13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「生命」的码是 0472 1163（示意）；这张表上没有「投降」二字。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6492240" y="54406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B4452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1932 年写进条文的话，十年后被一个 19 岁的姑娘说成了婚誓。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29264\Desktop\思政课ppt\素材-v2\images\tex-xuanzh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452F">
              <a:alpha val="14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kern="0" spc="400" dirty="0">
                <a:solidFill>
                  <a:srgbClr val="9635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章 三　·　CH.3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宁可……也绝不</a:t>
            </a:r>
            <a:endParaRPr lang="en-US" sz="2900" dirty="0"/>
          </a:p>
        </p:txBody>
      </p:sp>
      <p:pic>
        <p:nvPicPr>
          <p:cNvPr id="6" name="Image 1" descr="C:\Users\29264\Desktop\思政课ppt\素材-v2\images\ill-03-c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600200"/>
            <a:ext cx="5486400" cy="39776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66928" y="1600200"/>
            <a:ext cx="5486400" cy="3977640"/>
          </a:xfrm>
          <a:prstGeom prst="rect">
            <a:avLst/>
          </a:prstGeom>
          <a:ln w="15875">
            <a:solidFill>
              <a:srgbClr val="B4452F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76656" y="1709928"/>
            <a:ext cx="5266944" cy="3758184"/>
          </a:xfrm>
          <a:prstGeom prst="rect">
            <a:avLst/>
          </a:prstGeom>
          <a:ln w="9525">
            <a:solidFill>
              <a:srgbClr val="D9A441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355080" y="1554480"/>
            <a:ext cx="5212080" cy="4297680"/>
          </a:xfrm>
          <a:prstGeom prst="rect">
            <a:avLst/>
          </a:prstGeom>
          <a:solidFill>
            <a:srgbClr val="F4EFE4"/>
          </a:solidFill>
          <a:ln w="19050">
            <a:solidFill>
              <a:srgbClr val="B4452F"/>
            </a:solidFill>
            <a:prstDash val="solid"/>
          </a:ln>
          <a:effectLst>
            <a:outerShdw blurRad="114300" dist="63500" dir="2700000" algn="bl" rotWithShape="0">
              <a:srgbClr val="1C1A16">
                <a:alpha val="3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6464808" y="1664208"/>
            <a:ext cx="4992624" cy="4078224"/>
          </a:xfrm>
          <a:prstGeom prst="rect">
            <a:avLst/>
          </a:prstGeom>
          <a:ln w="9525">
            <a:solidFill>
              <a:srgbClr val="D9A441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355080" y="173736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B4452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囍</a:t>
            </a:r>
            <a:endParaRPr lang="en-US" sz="4800" dirty="0"/>
          </a:p>
        </p:txBody>
      </p:sp>
      <p:sp>
        <p:nvSpPr>
          <p:cNvPr id="12" name="Text 8"/>
          <p:cNvSpPr/>
          <p:nvPr/>
        </p:nvSpPr>
        <p:spPr>
          <a:xfrm>
            <a:off x="6812280" y="27889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时　一九四二年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812280" y="32461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地　延安枣园 · 窑洞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812280" y="37033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新郎 钟琪　｜　新娘 董健民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812280" y="41605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证婚人　李克农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6812280" y="4681728"/>
            <a:ext cx="4297680" cy="0"/>
          </a:xfrm>
          <a:prstGeom prst="line">
            <a:avLst/>
          </a:prstGeom>
          <a:noFill/>
          <a:ln w="9525">
            <a:solidFill>
              <a:srgbClr val="D9A44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29400" y="4800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B4452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结婚誓词，就是那 47 个字。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6629400" y="5212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没有鲜花婚床 —— 一盏油灯，一张红绸。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29264\Desktop\思政课ppt\素材-v2\images\ill-04-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29264\Desktop\思政课ppt\素材-v2\images\plate-ink.png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463040" y="228600"/>
            <a:ext cx="9235440" cy="24688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kern="0" spc="300" dirty="0">
                <a:solidFill>
                  <a:srgbClr val="D9A44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1946.11.7　·　兑现的日子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7315200" y="47548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800" dirty="0">
                <a:solidFill>
                  <a:srgbClr val="F2EDE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烟台 ────→ 大连 · 建秘密电台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640080" y="96012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"/>
              </a:lnSpc>
              <a:buNone/>
            </a:pPr>
            <a:r>
              <a:rPr lang="en-US" sz="1650" dirty="0">
                <a:solidFill>
                  <a:srgbClr val="F4EF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因叛徒告密，船在渤海被国民党军舰截停。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640080" y="141732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"/>
              </a:lnSpc>
              <a:buNone/>
            </a:pPr>
            <a:r>
              <a:rPr lang="en-US" sz="1650" dirty="0">
                <a:solidFill>
                  <a:srgbClr val="F4EF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炮弹击中甲板，两岁的明明头部中了弹片。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640080" y="187452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"/>
              </a:lnSpc>
              <a:buNone/>
            </a:pPr>
            <a:r>
              <a:rPr lang="en-US" sz="1650" dirty="0">
                <a:solidFill>
                  <a:srgbClr val="F4EF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敌舰喊话：「延安来的共产党，速速交出秘密文件」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640080" y="237744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D9A44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他们把密件紧贴胸前，喊「宁死不当俘虏」，相拥跃海。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5852160" y="489204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D9A44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 页 ， 没 有 。</a:t>
            </a:r>
            <a:endParaRPr lang="en-US" sz="3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29264\Desktop\思政课ppt\素材-v2\images\tex-xuanzh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kern="0" spc="400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目击者 · WITNESS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唯一的生还者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8869680" y="1371600"/>
            <a:ext cx="3108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1000" b="1" dirty="0">
                <a:solidFill>
                  <a:srgbClr val="B4452F">
                    <a:alpha val="1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21000" dirty="0"/>
          </a:p>
        </p:txBody>
      </p:sp>
      <p:pic>
        <p:nvPicPr>
          <p:cNvPr id="6" name="Image 1" descr="C:\Users\29264\Desktop\思政课ppt\素材-v2\assets\ico-anchor-2B2F3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2331720"/>
            <a:ext cx="566928" cy="5669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29535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5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11.7 船被截停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1965960" y="2587752"/>
            <a:ext cx="1371600" cy="310896"/>
          </a:xfrm>
          <a:prstGeom prst="line">
            <a:avLst/>
          </a:prstGeom>
          <a:noFill/>
          <a:ln w="19050">
            <a:solidFill>
              <a:srgbClr val="B4452F"/>
            </a:solidFill>
            <a:prstDash val="dash"/>
          </a:ln>
        </p:spPr>
      </p:sp>
      <p:sp>
        <p:nvSpPr>
          <p:cNvPr id="9" name="Shape 5"/>
          <p:cNvSpPr/>
          <p:nvPr/>
        </p:nvSpPr>
        <p:spPr>
          <a:xfrm flipV="1">
            <a:off x="3337560" y="2587752"/>
            <a:ext cx="1371600" cy="310896"/>
          </a:xfrm>
          <a:prstGeom prst="line">
            <a:avLst/>
          </a:prstGeom>
          <a:noFill/>
          <a:ln w="19050">
            <a:solidFill>
              <a:srgbClr val="B4452F"/>
            </a:solidFill>
            <a:prstDash val="dash"/>
          </a:ln>
        </p:spPr>
      </p:sp>
      <p:sp>
        <p:nvSpPr>
          <p:cNvPr id="10" name="Shape 6"/>
          <p:cNvSpPr/>
          <p:nvPr/>
        </p:nvSpPr>
        <p:spPr>
          <a:xfrm>
            <a:off x="4709160" y="2587752"/>
            <a:ext cx="1371600" cy="310896"/>
          </a:xfrm>
          <a:prstGeom prst="line">
            <a:avLst/>
          </a:prstGeom>
          <a:noFill/>
          <a:ln w="19050">
            <a:solidFill>
              <a:srgbClr val="B4452F"/>
            </a:solidFill>
            <a:prstDash val="dash"/>
          </a:ln>
        </p:spPr>
      </p:sp>
      <p:sp>
        <p:nvSpPr>
          <p:cNvPr id="11" name="Shape 7"/>
          <p:cNvSpPr/>
          <p:nvPr/>
        </p:nvSpPr>
        <p:spPr>
          <a:xfrm flipV="1">
            <a:off x="6080760" y="2606040"/>
            <a:ext cx="1371600" cy="292608"/>
          </a:xfrm>
          <a:prstGeom prst="line">
            <a:avLst/>
          </a:prstGeom>
          <a:noFill/>
          <a:ln w="19050">
            <a:solidFill>
              <a:srgbClr val="B4452F"/>
            </a:solidFill>
            <a:prstDash val="dash"/>
          </a:ln>
        </p:spPr>
      </p:sp>
      <p:sp>
        <p:nvSpPr>
          <p:cNvPr id="12" name="Shape 8"/>
          <p:cNvSpPr/>
          <p:nvPr/>
        </p:nvSpPr>
        <p:spPr>
          <a:xfrm>
            <a:off x="7452360" y="2606040"/>
            <a:ext cx="1280160" cy="182880"/>
          </a:xfrm>
          <a:prstGeom prst="line">
            <a:avLst/>
          </a:prstGeom>
          <a:noFill/>
          <a:ln w="19050">
            <a:solidFill>
              <a:srgbClr val="B4452F"/>
            </a:solidFill>
            <a:prstDash val="dash"/>
          </a:ln>
        </p:spPr>
      </p:sp>
      <p:pic>
        <p:nvPicPr>
          <p:cNvPr id="13" name="Image 2" descr="C:\Users\29264\Desktop\思政课ppt\素材-v2\assets\ico-package-B4452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228600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26280" y="28986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抱木箱漂流</a:t>
            </a:r>
            <a:endParaRPr lang="en-US" sz="1050" dirty="0"/>
          </a:p>
        </p:txBody>
      </p:sp>
      <p:pic>
        <p:nvPicPr>
          <p:cNvPr id="15" name="Image 3" descr="C:\Users\29264\Desktop\思政课ppt\素材-v2\assets\ico-ship-B4452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2520" y="2286000"/>
            <a:ext cx="713232" cy="7132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412480" y="3044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苏联商船救起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1280160" y="3794760"/>
            <a:ext cx="6949440" cy="2148840"/>
          </a:xfrm>
          <a:prstGeom prst="roundRect">
            <a:avLst>
              <a:gd name="adj" fmla="val 2128"/>
            </a:avLst>
          </a:prstGeom>
          <a:solidFill>
            <a:srgbClr val="F4EFE4"/>
          </a:solidFill>
          <a:ln w="9525">
            <a:solidFill>
              <a:srgbClr val="8A8F94"/>
            </a:solidFill>
            <a:prstDash val="solid"/>
          </a:ln>
          <a:effectLst>
            <a:outerShdw blurRad="76200" dist="38100" dir="2700000" algn="bl" rotWithShape="0">
              <a:srgbClr val="1C1A16">
                <a:alpha val="20000"/>
              </a:srgbClr>
            </a:outerShdw>
          </a:effectLst>
        </p:spPr>
      </p:sp>
      <p:sp>
        <p:nvSpPr>
          <p:cNvPr id="18" name="Text 12"/>
          <p:cNvSpPr/>
          <p:nvPr/>
        </p:nvSpPr>
        <p:spPr>
          <a:xfrm>
            <a:off x="1554480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交通员 · 口述记录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1554480" y="4498848"/>
            <a:ext cx="6400800" cy="0"/>
          </a:xfrm>
          <a:prstGeom prst="line">
            <a:avLst/>
          </a:prstGeom>
          <a:noFill/>
          <a:ln w="9525">
            <a:solidFill>
              <a:srgbClr val="D5CEC0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1554480" y="437083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同船交通员抱着一个木箱漂流。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1554480" y="4937760"/>
            <a:ext cx="6400800" cy="0"/>
          </a:xfrm>
          <a:prstGeom prst="line">
            <a:avLst/>
          </a:prstGeom>
          <a:noFill/>
          <a:ln w="9525">
            <a:solidFill>
              <a:srgbClr val="D5CEC0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1554480" y="480974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木箱里没有密码 —— 密码，在董健民身上。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1554480" y="5376672"/>
            <a:ext cx="6400800" cy="0"/>
          </a:xfrm>
          <a:prstGeom prst="line">
            <a:avLst/>
          </a:prstGeom>
          <a:noFill/>
          <a:ln w="9525">
            <a:solidFill>
              <a:srgbClr val="D5CEC0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1554480" y="524865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他被苏联商船救起，成为唯一目击者。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8869680" y="39776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600" dirty="0"/>
          </a:p>
        </p:txBody>
      </p:sp>
      <p:sp>
        <p:nvSpPr>
          <p:cNvPr id="26" name="Text 20"/>
          <p:cNvSpPr/>
          <p:nvPr/>
        </p:nvSpPr>
        <p:spPr>
          <a:xfrm>
            <a:off x="8503920" y="5212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全船唯一生还者，不是这家人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29264\Desktop\思政课ppt\素材-v2\images\tex-xuanzh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kern="0" spc="400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章 四　·　CH.4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零遗物</a:t>
            </a:r>
            <a:endParaRPr lang="en-US" sz="2900" dirty="0"/>
          </a:p>
        </p:txBody>
      </p:sp>
      <p:pic>
        <p:nvPicPr>
          <p:cNvPr id="5" name="Image 1" descr="C:\Users\29264\Desktop\思政课ppt\素材-v2\images\ill-05-fra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554480"/>
            <a:ext cx="5394960" cy="32004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66928" y="1554480"/>
            <a:ext cx="5394960" cy="3200400"/>
          </a:xfrm>
          <a:prstGeom prst="rect">
            <a:avLst/>
          </a:prstGeom>
          <a:ln w="9525">
            <a:solidFill>
              <a:srgbClr val="C9C2B6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66928" y="4846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1983 · 家人领到的骨灰盒，里面只有一份悼词。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6400800" y="1783080"/>
            <a:ext cx="0" cy="3246120"/>
          </a:xfrm>
          <a:prstGeom prst="line">
            <a:avLst/>
          </a:prstGeom>
          <a:noFill/>
          <a:ln w="15875">
            <a:solidFill>
              <a:srgbClr val="D9A441"/>
            </a:solidFill>
            <a:prstDash val="sysDash"/>
          </a:ln>
        </p:spPr>
      </p:sp>
      <p:sp>
        <p:nvSpPr>
          <p:cNvPr id="9" name="Shape 5"/>
          <p:cNvSpPr/>
          <p:nvPr/>
        </p:nvSpPr>
        <p:spPr>
          <a:xfrm>
            <a:off x="6309360" y="1764792"/>
            <a:ext cx="182880" cy="18288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F4EFE4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675120" y="16916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1946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452360" y="170078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一家三口，牺牲于渤海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309360" y="2514600"/>
            <a:ext cx="182880" cy="18288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F4EFE4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675120" y="244144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1981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452360" y="24505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民政部批准为革命烈士 —— 迟到 35 年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309360" y="3264408"/>
            <a:ext cx="182880" cy="18288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F4EFE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675120" y="3191256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1983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7452360" y="3200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骨灰盒送回家 —— 里面只有一份悼词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309360" y="4014216"/>
            <a:ext cx="182880" cy="18288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F4EFE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675120" y="3941064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1988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7452360" y="39502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全国妇联《中华女英烈》收录了她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309360" y="4764024"/>
            <a:ext cx="182880" cy="18288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F4EFE4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675120" y="4690872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2025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7452360" y="470001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静海刘祥庄村纪念展厅落成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566928" y="5257800"/>
            <a:ext cx="3246120" cy="1051560"/>
          </a:xfrm>
          <a:prstGeom prst="roundRect">
            <a:avLst>
              <a:gd name="adj" fmla="val 4348"/>
            </a:avLst>
          </a:prstGeom>
          <a:solidFill>
            <a:srgbClr val="F4EFE4"/>
          </a:solidFill>
          <a:ln w="9525">
            <a:solidFill>
              <a:srgbClr val="8A8F94"/>
            </a:solidFill>
            <a:prstDash val="solid"/>
          </a:ln>
          <a:effectLst>
            <a:outerShdw blurRad="76200" dist="38100" dir="2700000" algn="bl" rotWithShape="0">
              <a:srgbClr val="1C1A16">
                <a:alpha val="20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777240" y="5376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55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她没带走的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777240" y="559612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2B2F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</a:t>
            </a:r>
            <a:endParaRPr lang="en-US" sz="4000" dirty="0"/>
          </a:p>
        </p:txBody>
      </p:sp>
      <p:sp>
        <p:nvSpPr>
          <p:cNvPr id="27" name="Text 23"/>
          <p:cNvSpPr/>
          <p:nvPr/>
        </p:nvSpPr>
        <p:spPr>
          <a:xfrm>
            <a:off x="1600200" y="587044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件遗物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3977640" y="5257800"/>
            <a:ext cx="3246120" cy="1051560"/>
          </a:xfrm>
          <a:prstGeom prst="roundRect">
            <a:avLst>
              <a:gd name="adj" fmla="val 4348"/>
            </a:avLst>
          </a:prstGeom>
          <a:solidFill>
            <a:srgbClr val="F4EFE4"/>
          </a:solidFill>
          <a:ln w="9525">
            <a:solidFill>
              <a:srgbClr val="8A8F94"/>
            </a:solidFill>
            <a:prstDash val="solid"/>
          </a:ln>
          <a:effectLst>
            <a:outerShdw blurRad="76200" dist="38100" dir="2700000" algn="bl" rotWithShape="0">
              <a:srgbClr val="1C1A16">
                <a:alpha val="20000"/>
              </a:srgbClr>
            </a:outerShdw>
          </a:effectLst>
        </p:spPr>
      </p:sp>
      <p:sp>
        <p:nvSpPr>
          <p:cNvPr id="29" name="Text 25"/>
          <p:cNvSpPr/>
          <p:nvPr/>
        </p:nvSpPr>
        <p:spPr>
          <a:xfrm>
            <a:off x="4187952" y="5376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55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敌人没得到的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4187952" y="559612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</a:t>
            </a:r>
            <a:endParaRPr lang="en-US" sz="4000" dirty="0"/>
          </a:p>
        </p:txBody>
      </p:sp>
      <p:sp>
        <p:nvSpPr>
          <p:cNvPr id="31" name="Text 27"/>
          <p:cNvSpPr/>
          <p:nvPr/>
        </p:nvSpPr>
        <p:spPr>
          <a:xfrm>
            <a:off x="5010912" y="587044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页密件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7589520" y="54406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B4452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她守住的，是「一页未落」。</a:t>
            </a: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7589520" y="5943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555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序厅之外五个展厅：巾帼之志 / 先辈引路 / 奔赴延安 / 枣园电波 / 渤海惊涛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5390" cy="4114800"/>
          </a:xfrm>
          <a:prstGeom prst="rect">
            <a:avLst/>
          </a:prstGeom>
          <a:solidFill>
            <a:srgbClr val="22313B"/>
          </a:solidFill>
          <a:ln/>
        </p:spPr>
      </p:sp>
      <p:pic>
        <p:nvPicPr>
          <p:cNvPr id="3" name="Image 0" descr="C:\Users\29264\Desktop\思政课ppt\素材-v2\images\tex-xuanzh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6095390" cy="4114800"/>
          </a:xfrm>
          <a:prstGeom prst="rect">
            <a:avLst/>
          </a:prstGeom>
          <a:solidFill>
            <a:srgbClr val="22313B"/>
          </a:solidFill>
          <a:ln/>
        </p:spPr>
      </p:sp>
      <p:sp>
        <p:nvSpPr>
          <p:cNvPr id="5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E2D9C6">
              <a:alpha val="7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D9A44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kern="0" spc="400" dirty="0">
                <a:solidFill>
                  <a:srgbClr val="D9A44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1946 · 渤 海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58368" y="1106424"/>
            <a:ext cx="566928" cy="566928"/>
          </a:xfrm>
          <a:prstGeom prst="ellipse">
            <a:avLst/>
          </a:prstGeom>
          <a:solidFill>
            <a:srgbClr val="2E3E49"/>
          </a:solidFill>
          <a:ln/>
        </p:spPr>
      </p:sp>
      <p:pic>
        <p:nvPicPr>
          <p:cNvPr id="9" name="Image 1" descr="C:\Users\29264\Desktop\思政课ppt\素材-v2\assets\ico-ship-F4EF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1161288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188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50" dirty="0">
                <a:solidFill>
                  <a:srgbClr val="F4EF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一艘军舰，截停一条木船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658368" y="1764792"/>
            <a:ext cx="566928" cy="566928"/>
          </a:xfrm>
          <a:prstGeom prst="ellipse">
            <a:avLst/>
          </a:prstGeom>
          <a:solidFill>
            <a:srgbClr val="2E3E49"/>
          </a:solidFill>
          <a:ln/>
        </p:spPr>
      </p:sp>
      <p:pic>
        <p:nvPicPr>
          <p:cNvPr id="12" name="Image 2" descr="C:\Users\29264\Desktop\思政课ppt\素材-v2\assets\ico-crosshair-F4EFE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1819656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184708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50" dirty="0">
                <a:solidFill>
                  <a:srgbClr val="F4EF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炮火，击中船帆</a:t>
            </a:r>
            <a:endParaRPr lang="en-US" sz="1550" dirty="0"/>
          </a:p>
        </p:txBody>
      </p:sp>
      <p:sp>
        <p:nvSpPr>
          <p:cNvPr id="14" name="Shape 9"/>
          <p:cNvSpPr/>
          <p:nvPr/>
        </p:nvSpPr>
        <p:spPr>
          <a:xfrm>
            <a:off x="658368" y="2423160"/>
            <a:ext cx="566928" cy="566928"/>
          </a:xfrm>
          <a:prstGeom prst="ellipse">
            <a:avLst/>
          </a:prstGeom>
          <a:solidFill>
            <a:srgbClr val="2E3E49"/>
          </a:solidFill>
          <a:ln/>
        </p:spPr>
      </p:sp>
      <p:pic>
        <p:nvPicPr>
          <p:cNvPr id="15" name="Image 3" descr="C:\Users\29264\Desktop\思政课ppt\素材-v2\assets\ico-arrow-up-F4EFE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2478024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17320" y="250545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50" dirty="0">
                <a:solidFill>
                  <a:srgbClr val="F4EF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军警，登船抢密码</a:t>
            </a:r>
            <a:endParaRPr lang="en-US" sz="1550" dirty="0"/>
          </a:p>
        </p:txBody>
      </p:sp>
      <p:sp>
        <p:nvSpPr>
          <p:cNvPr id="17" name="Text 11"/>
          <p:cNvSpPr/>
          <p:nvPr/>
        </p:nvSpPr>
        <p:spPr>
          <a:xfrm>
            <a:off x="640080" y="3200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F4EF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要拿一本密码 ——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640080" y="35478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D9A44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需要一艘军舰。</a:t>
            </a:r>
            <a:endParaRPr lang="en-US" sz="2100" dirty="0"/>
          </a:p>
        </p:txBody>
      </p:sp>
      <p:sp>
        <p:nvSpPr>
          <p:cNvPr id="19" name="Text 13"/>
          <p:cNvSpPr/>
          <p:nvPr/>
        </p:nvSpPr>
        <p:spPr>
          <a:xfrm>
            <a:off x="644652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kern="0" spc="400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2025 · 校 园</a:t>
            </a:r>
            <a:endParaRPr lang="en-US" sz="1300" dirty="0"/>
          </a:p>
        </p:txBody>
      </p:sp>
      <p:pic>
        <p:nvPicPr>
          <p:cNvPr id="20" name="Image 4" descr="C:\Users\29264\Desktop\思政课ppt\素材-v2\assets\ico-message-B4452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72800" y="384048"/>
            <a:ext cx="502920" cy="502920"/>
          </a:xfrm>
          <a:prstGeom prst="rect">
            <a:avLst/>
          </a:prstGeom>
        </p:spPr>
      </p:pic>
      <p:pic>
        <p:nvPicPr>
          <p:cNvPr id="21" name="Image 5" descr="C:\Users\29264\Desktop\思政课ppt\素材-v2\assets\tape-cha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-420000">
            <a:off x="6400800" y="1371600"/>
            <a:ext cx="5486400" cy="1097280"/>
          </a:xfrm>
          <a:prstGeom prst="rect">
            <a:avLst/>
          </a:prstGeom>
          <a:effectLst>
            <a:outerShdw blurRad="88900" dist="50800" dir="2700000" algn="bl" rotWithShape="0">
              <a:srgbClr val="1C1A16">
                <a:alpha val="30000"/>
              </a:srgbClr>
            </a:outerShdw>
          </a:effectLst>
        </p:spPr>
      </p:pic>
      <p:sp>
        <p:nvSpPr>
          <p:cNvPr id="22" name="Text 14"/>
          <p:cNvSpPr/>
          <p:nvPr/>
        </p:nvSpPr>
        <p:spPr>
          <a:xfrm>
            <a:off x="6446520" y="32004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要拿今天的密码 ——</a:t>
            </a:r>
            <a:endParaRPr lang="en-US" sz="1600" dirty="0"/>
          </a:p>
        </p:txBody>
      </p:sp>
      <p:sp>
        <p:nvSpPr>
          <p:cNvPr id="23" name="Text 15"/>
          <p:cNvSpPr/>
          <p:nvPr/>
        </p:nvSpPr>
        <p:spPr>
          <a:xfrm>
            <a:off x="6446520" y="354787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B4452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只需要一条消息。</a:t>
            </a:r>
            <a:endParaRPr lang="en-US" sz="2100" dirty="0"/>
          </a:p>
        </p:txBody>
      </p:sp>
      <p:sp>
        <p:nvSpPr>
          <p:cNvPr id="24" name="Shape 16"/>
          <p:cNvSpPr/>
          <p:nvPr/>
        </p:nvSpPr>
        <p:spPr>
          <a:xfrm>
            <a:off x="6095390" y="320040"/>
            <a:ext cx="0" cy="3474720"/>
          </a:xfrm>
          <a:prstGeom prst="line">
            <a:avLst/>
          </a:prstGeom>
          <a:noFill/>
          <a:ln w="12700">
            <a:solidFill>
              <a:srgbClr val="D9A441"/>
            </a:solidFill>
            <a:prstDash val="dash"/>
          </a:ln>
        </p:spPr>
      </p:sp>
      <p:sp>
        <p:nvSpPr>
          <p:cNvPr id="25" name="Shape 17"/>
          <p:cNvSpPr/>
          <p:nvPr/>
        </p:nvSpPr>
        <p:spPr>
          <a:xfrm>
            <a:off x="5702198" y="1691640"/>
            <a:ext cx="786384" cy="786384"/>
          </a:xfrm>
          <a:prstGeom prst="ellipse">
            <a:avLst/>
          </a:prstGeom>
          <a:solidFill>
            <a:srgbClr val="EDE7DA"/>
          </a:solidFill>
          <a:ln w="15875">
            <a:solidFill>
              <a:srgbClr val="B4452F"/>
            </a:solidFill>
            <a:prstDash val="solid"/>
          </a:ln>
          <a:effectLst>
            <a:outerShdw blurRad="76200" dist="38100" dir="2700000" algn="bl" rotWithShape="0">
              <a:srgbClr val="1C1A16">
                <a:alpha val="30000"/>
              </a:srgbClr>
            </a:outerShdw>
          </a:effectLst>
        </p:spPr>
      </p:sp>
      <p:sp>
        <p:nvSpPr>
          <p:cNvPr id="26" name="Text 18"/>
          <p:cNvSpPr/>
          <p:nvPr/>
        </p:nvSpPr>
        <p:spPr>
          <a:xfrm>
            <a:off x="5702198" y="1883664"/>
            <a:ext cx="78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4452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79 年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640080" y="43159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今天的密码，就在我们身边：</a:t>
            </a:r>
            <a:endParaRPr lang="en-US" sz="1400" dirty="0"/>
          </a:p>
        </p:txBody>
      </p:sp>
      <p:pic>
        <p:nvPicPr>
          <p:cNvPr id="28" name="Image 6" descr="C:\Users\29264\Desktop\思政课ppt\素材-v2\assets\ico-drive-2B2F3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4681728"/>
            <a:ext cx="457200" cy="45720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57200" y="517550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实验数据</a:t>
            </a:r>
            <a:endParaRPr lang="en-US" sz="1100" dirty="0"/>
          </a:p>
        </p:txBody>
      </p:sp>
      <p:pic>
        <p:nvPicPr>
          <p:cNvPr id="30" name="Image 7" descr="C:\Users\29264\Desktop\思政课ppt\素材-v2\assets\ico-cpu-B4452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19072" y="4681728"/>
            <a:ext cx="457200" cy="45720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1536192" y="517550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核心算法</a:t>
            </a:r>
            <a:endParaRPr lang="en-US" sz="1100" dirty="0"/>
          </a:p>
        </p:txBody>
      </p:sp>
      <p:pic>
        <p:nvPicPr>
          <p:cNvPr id="32" name="Image 8" descr="C:\Users\29264\Desktop\思政课ppt\素材-v2\assets\ico-ruler-2B2F33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98064" y="4681728"/>
            <a:ext cx="457200" cy="45720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2615184" y="517550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未公开图纸</a:t>
            </a:r>
            <a:endParaRPr lang="en-US" sz="1100" dirty="0"/>
          </a:p>
        </p:txBody>
      </p:sp>
      <p:pic>
        <p:nvPicPr>
          <p:cNvPr id="34" name="Image 9" descr="C:\Users\29264\Desktop\思政课ppt\素材-v2\assets\ico-file-B4452F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77056" y="4681728"/>
            <a:ext cx="457200" cy="457200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3694176" y="517550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未刊成果</a:t>
            </a:r>
            <a:endParaRPr lang="en-US" sz="1100" dirty="0"/>
          </a:p>
        </p:txBody>
      </p:sp>
      <p:pic>
        <p:nvPicPr>
          <p:cNvPr id="36" name="Image 10" descr="C:\Users\29264\Desktop\思政课ppt\素材-v2\assets\ico-eye-2B2F33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56048" y="4681728"/>
            <a:ext cx="457200" cy="457200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4773168" y="517550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个人隐私</a:t>
            </a:r>
            <a:endParaRPr lang="en-US" sz="1100" dirty="0"/>
          </a:p>
        </p:txBody>
      </p:sp>
      <p:sp>
        <p:nvSpPr>
          <p:cNvPr id="38" name="Text 25"/>
          <p:cNvSpPr/>
          <p:nvPr/>
        </p:nvSpPr>
        <p:spPr>
          <a:xfrm>
            <a:off x="6400800" y="43159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守住它，有法可依：</a:t>
            </a:r>
            <a:endParaRPr lang="en-US" sz="1400" dirty="0"/>
          </a:p>
        </p:txBody>
      </p:sp>
      <p:pic>
        <p:nvPicPr>
          <p:cNvPr id="39" name="Image 11" descr="C:\Users\29264\Desktop\思政课ppt\素材-v2\assets\ico-scale-B4452F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0" y="4636008"/>
            <a:ext cx="347472" cy="347472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6858000" y="46634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《保守国家秘密法》第 9 条</a:t>
            </a:r>
            <a:endParaRPr lang="en-US" sz="1300" dirty="0"/>
          </a:p>
        </p:txBody>
      </p:sp>
      <p:pic>
        <p:nvPicPr>
          <p:cNvPr id="41" name="Image 12" descr="C:\Users\29264\Desktop\思政课ppt\素材-v2\assets\ico-book-B4452F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00800" y="5056632"/>
            <a:ext cx="347472" cy="347472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6858000" y="508406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《密码法》核心 / 普通 / 商用密码</a:t>
            </a:r>
            <a:endParaRPr lang="en-US" sz="1300" dirty="0"/>
          </a:p>
        </p:txBody>
      </p:sp>
      <p:pic>
        <p:nvPicPr>
          <p:cNvPr id="43" name="Image 13" descr="C:\Users\29264\Desktop\思政课ppt\素材-v2\assets\ico-calendar-B4452F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0" y="5477256"/>
            <a:ext cx="347472" cy="347472"/>
          </a:xfrm>
          <a:prstGeom prst="rect">
            <a:avLst/>
          </a:prstGeom>
        </p:spPr>
      </p:pic>
      <p:sp>
        <p:nvSpPr>
          <p:cNvPr id="44" name="Text 28"/>
          <p:cNvSpPr/>
          <p:nvPr/>
        </p:nvSpPr>
        <p:spPr>
          <a:xfrm>
            <a:off x="6858000" y="550468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4·15 全民国家安全教育日</a:t>
            </a:r>
            <a:endParaRPr lang="en-US" sz="1300" dirty="0"/>
          </a:p>
        </p:txBody>
      </p:sp>
      <p:sp>
        <p:nvSpPr>
          <p:cNvPr id="45" name="Text 29"/>
          <p:cNvSpPr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4452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那个村口展厅，已是 4·15 的固定教学点。</a:t>
            </a:r>
            <a:endParaRPr lang="en-US" sz="1800" dirty="0"/>
          </a:p>
        </p:txBody>
      </p:sp>
      <p:sp>
        <p:nvSpPr>
          <p:cNvPr id="46" name="Text 14"/>
          <p:cNvSpPr/>
          <p:nvPr/>
        </p:nvSpPr>
        <p:spPr>
          <a:xfrm>
            <a:off x="8300000" y="3060000"/>
            <a:ext cx="3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—— 国家安全部 2025.11.4 披露：在读研究生金某被以「兼职写材料」勾联。</a:t>
            </a:r>
            <a:endParaRPr lang="en-US" sz="1600" dirty="0"/>
          </a:p>
        </p:txBody>
      </p:sp>
      <p:sp>
        <p:nvSpPr>
          <p:cNvPr id="47" name="Text 14"/>
          <p:cNvSpPr/>
          <p:nvPr/>
        </p:nvSpPr>
        <p:spPr>
          <a:xfrm>
            <a:off x="8300000" y="3420000"/>
            <a:ext cx="3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B4452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他不是叛徒，是差点没守住「绝不」两个字的学生。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29264\Desktop\思政课ppt\素材-v2\images\tex-xuanzh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452F">
              <a:alpha val="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kern="0" spc="400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收 束 · CODA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她的誓言，也是我们的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1828800" y="188366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kern="0" spc="200" dirty="0">
                <a:solidFill>
                  <a:srgbClr val="8A8F9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章一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651760" y="18288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为了千百万人能够得到解放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828800" y="259689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kern="0" spc="200" dirty="0">
                <a:solidFill>
                  <a:srgbClr val="8A8F9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章二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651760" y="2542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为了实现共产主义理想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828800" y="331012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kern="0" spc="200" dirty="0">
                <a:solidFill>
                  <a:srgbClr val="8A8F9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章三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651760" y="325526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宁可牺牲自己的性命，也绝不泄露党的机密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1828800" y="40233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kern="0" spc="200" dirty="0">
                <a:solidFill>
                  <a:srgbClr val="8A8F9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章四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651760" y="3968496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B4452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誓与密码共存亡</a:t>
            </a:r>
            <a:endParaRPr lang="en-US" sz="2300" dirty="0"/>
          </a:p>
        </p:txBody>
      </p:sp>
      <p:sp>
        <p:nvSpPr>
          <p:cNvPr id="14" name="Shape 11"/>
          <p:cNvSpPr/>
          <p:nvPr/>
        </p:nvSpPr>
        <p:spPr>
          <a:xfrm rot="-120000">
            <a:off x="7955280" y="4892040"/>
            <a:ext cx="3566160" cy="1051560"/>
          </a:xfrm>
          <a:prstGeom prst="rect">
            <a:avLst/>
          </a:prstGeom>
          <a:solidFill>
            <a:srgbClr val="B4452F"/>
          </a:solidFill>
          <a:ln w="12700">
            <a:solidFill>
              <a:srgbClr val="963522"/>
            </a:solidFill>
            <a:prstDash val="solid"/>
          </a:ln>
          <a:effectLst>
            <a:outerShdw blurRad="101600" dist="50800" dir="2700000" algn="bl" rotWithShape="0">
              <a:srgbClr val="1C1A16">
                <a:alpha val="3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 rot="-120000">
            <a:off x="7955280" y="489204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kern="0" spc="400" dirty="0">
                <a:solidFill>
                  <a:srgbClr val="F4EF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誓与密码共存亡</a:t>
            </a:r>
            <a:endParaRPr lang="en-US" sz="2300" dirty="0"/>
          </a:p>
        </p:txBody>
      </p:sp>
      <p:sp>
        <p:nvSpPr>
          <p:cNvPr id="16" name="Text 13"/>
          <p:cNvSpPr/>
          <p:nvPr/>
        </p:nvSpPr>
        <p:spPr>
          <a:xfrm>
            <a:off x="640080" y="5029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B2F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1946　→　2026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40080" y="5623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1946 年，她把这句话交给海；今天，我们把这句话交给自己。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4008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致敬　董健民、钟琪 与明明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708</Words>
  <Application>Microsoft Office PowerPoint</Application>
  <PresentationFormat>宽屏</PresentationFormat>
  <Paragraphs>237</Paragraphs>
  <Slides>14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8" baseType="lpstr">
      <vt:lpstr>Noto Sans SC</vt:lpstr>
      <vt:lpstr>Noto Serif SC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誓与密码共存亡 —— 董健民</dc:title>
  <dc:subject>PptxGenJS Presentation</dc:subject>
  <dc:creator>思政课</dc:creator>
  <cp:lastModifiedBy>yiru lu</cp:lastModifiedBy>
  <cp:revision>3</cp:revision>
  <dcterms:created xsi:type="dcterms:W3CDTF">2026-09-30T18:22:45Z</dcterms:created>
  <dcterms:modified xsi:type="dcterms:W3CDTF">2026-10-01T03:55:48Z</dcterms:modified>
</cp:coreProperties>
</file>