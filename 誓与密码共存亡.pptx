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大家好，我们小组今天要解读的名言，是“誓与密码共存亡”。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说这句话的人叫董健民，牺牲时只有23岁。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这七个字不是写在纸上的口号，而是她用一家三口的生命兑现的誓言。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让我们先从她生命的最后一刻讲起。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时间倒回到1946年10月，渤海湾上。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一艘从烟台开往大连的客轮，被国民党的军舰拦住了，炮弹已经上膛，特务马上就要登船抓人。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混乱中，一位年轻母亲退到船舷，把怀里的一样东西死死抱在胸前。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请大家记住这个悬念：那样东西，到底是什么？为什么比她和孩子的命还重要？答案稍后揭晓。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答案是两个字——密码。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她怀里抱的，是党在东北的密电码，背后连着几百个秘密情报站，连着正在挺进东北的千军万马。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而早在新婚那天，她和丈夫就立下过七个字的誓言：誓与密码共存亡。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这七个字，她后来真的用命去兑现了。让我们把时间倒回七年前，看看她是怎样一个姑娘。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董健民，1923年生于河北静海一个贫苦农家，是家里的三女儿。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她从小聪明、倔强、胆子大，因为家里穷被迫辍学；带她走上革命道路的，是她的叔父、翻译家兼地下党员董秋斯。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她的性格里有一股认死理的劲儿——认准的路，绝不回头。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请大家记住这股子倔强，因为正是这种性格，让她在七年后的渤海湾上，作出了那个惊天的抉择。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1939年春天，16岁的董健民做出了人生第一个大胆的决定。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她和大姐、二姐扮成回娘家的村姑，臂挽包袱，渡海南下，辗转上千公里，一路走到了延安。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1940年她进入陕北公学学习，同年入党；第二年，18岁的她被选进了中央社会部机要科。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那么，机要科到底是做什么的？这就要说到她那份神秘的工作。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在机要科，董健民的岗位叫电台侦听员，被形象地称为“党中央的耳朵”。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她要戴着耳机日夜守听，把敌台发的莫尔斯电码飞快抄下来；这是硬功夫，合格线是每分钟80码，好手能到100码。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当时我军用的密码叫“豪密”，是周恩来主持编制的一次一密体制，同字不同码，极难破译。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而这个岗位的第一条纪律就是：听到的每个字，都要烂在肚子里，到死都不能说。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1942年，董健民嫁给了同科的译电员钟琪。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钟琪原名陈贯忠，比她大两岁，17岁就入党，人很瘦、业务拔尖、心肠特别热，常把自己津贴省下的东西分给战友。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他们在枣园的窑洞里成婚，李克农亲自证婚；后来有了儿子明明。报告文学里写过一个细节：雪夜，一盆炭火，两人相对而坐。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他们是夫妻，更是能把后背托付给彼此的战友。而正是在这场婚礼上，他们立下了那句著名的誓言。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就在这个简朴的窑洞婚礼上，董健民和钟琪没有许下山盟海誓，而是共同立下了这样一段誓言。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（放慢语速，逐句朗读名言）为了千百万人能够得到解放，为了实现共产主义理想，宁可牺牲自己的性命，也绝不泄露党的机密，誓与密码共存亡！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请大家注意，这不是婚礼上好听的祝词，而是一句随时准备用命去兑现的承诺。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那么，密码为什么值得用一家三口的命去守？我们必须先弄明白这个问题。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要理解他们的选择，必须先明白密码有多重。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一本密电码，连着东北几百个秘密情报站，更连着正在挺进东北的千军万马。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密码一旦落到敌人手里，整个情报网会在一夜之间被连根拔起，无数同志会因此牺牲。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1946年，组织把这样一个任务交给了他们：带着密电码，从烟台走海路到大连，去东北建秘密电台——而渤海，已经被国民党军舰封锁了。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由于叛徒告密，他们的船在渤海被军舰截停，炮弹击中了甲板，年幼的明明也被弹片击中。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报告文学里写了一个让人落泪又震撼的细节：孩子在怀里啼哭，她拢了拢头发，朝扑上来的敌人，露出一个轻蔑的冷笑。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然后，他们把密件紧紧贴在胸前，一家三口抱在一起，纵身跳进了滔滔渤海。她23岁，他25岁，孩子刚满两岁。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四年前新婚之夜立下的那句“誓与密码共存亡”，在这一刻，兑现了。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因为牺牲现场只有一位同志脱险，他们的事迹一度尘封。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1947年初延安撤离前，中央为他们开了追悼会；但直到牺牲35年后的1981年，他们才被追认为烈士；1983年，家人才辗转知道真相，以遗物修了衣冠冢。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今天，西柏坡“无名的丰碑”展厅陈列着他们；2025年，董健民的家乡还专门建起了纪念展厅。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隐蔽战线的英雄无名，但他们不该、也终究没有被遗忘。那么，80年后的今天，这句誓言对我们又意味着什么？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80年过去了，这句誓言并没有过时。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从“誓与密码共存亡”到今天的总体国家安全观，隐蔽战线依然存在：有国安干警，有密码和芯片，有核心技术的攻关。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董健民当年用命守护的密码，某种意义上，就是今天我们要守住的国之重器。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所以我想把一个问题留给在座的每一位：今天的我们，愿意为什么而坚守？这盛世，如你所愿。谢谢大家。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jpeg" Type="http://schemas.openxmlformats.org/officeDocument/2006/relationships/image"/><Relationship Id="rId3" Target="../notesSlides/notesSlide12.xml" Type="http://schemas.openxmlformats.org/officeDocument/2006/relationships/notesSlide"/><Relationship Id="rId4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61A20">
              <a:alpha val="4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6764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DED6C8"/>
                </a:solidFill>
                <a:latin typeface="Noto Serif SC"/>
                <a:ea typeface="Noto Serif SC"/>
                <a:cs typeface="Noto Serif SC"/>
                <a:sym typeface="Noto Serif SC"/>
              </a:rPr>
              <a:t>红 色 名 言 解 读 · 思 政 课 小 组 展 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489200"/>
            <a:ext cx="101600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F6F1E9"/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40400" y="4038600"/>
            <a:ext cx="711200" cy="38100"/>
          </a:xfrm>
          <a:prstGeom prst="roundRect">
            <a:avLst>
              <a:gd name="adj" fmla="val 0"/>
            </a:avLst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2926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一位 23 岁的机要员，用生命兑现的七个字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78500" y="5740400"/>
            <a:ext cx="635000" cy="635000"/>
          </a:xfrm>
          <a:prstGeom prst="roundRect">
            <a:avLst>
              <a:gd name="adj" fmla="val 0"/>
            </a:avLst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78500" y="5740400"/>
            <a:ext cx="63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6F1E9"/>
                </a:solidFill>
                <a:latin typeface="Noto Serif SC"/>
                <a:ea typeface="Noto Serif SC"/>
                <a:cs typeface="Noto Serif SC"/>
                <a:sym typeface="Noto Serif SC"/>
              </a:rPr>
              <a:t>忠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7404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DED6C8"/>
                </a:solidFill>
                <a:latin typeface="Noto Serif SC"/>
                <a:ea typeface="Noto Serif SC"/>
                <a:cs typeface="Noto Serif SC"/>
                <a:sym typeface="Noto Serif SC"/>
              </a:rPr>
              <a:t>董健民（1923—1946）</a:t>
            </a:r>
            <a:endParaRPr lang="en-US" sz="1100"/>
          </a:p>
          <a:p>
            <a:pPr algn="r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DED6C8"/>
                </a:solidFill>
                <a:latin typeface="Noto Serif SC"/>
                <a:ea typeface="Noto Serif SC"/>
                <a:cs typeface="Noto Serif SC"/>
                <a:sym typeface="Noto Serif SC"/>
              </a:rPr>
              <a:t>中共隐蔽战线 · 中央社会部机要科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2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161C">
              <a:alpha val="3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431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序幕 · PROLOGUE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02 / 12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EAE0">
                <a:alpha val="3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1905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1946 年 10 月 · 渤 海 湾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89200"/>
            <a:ext cx="4699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false" i="false" strike="noStrike" u="none" sz="17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一艘由烟台开往大连的客轮，</a:t>
            </a:r>
            <a:endParaRPr lang="en-US" sz="1100"/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7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在渤海被国民党军舰截停。</a:t>
            </a:r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7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炮弹上膛，军警就要登船搜查。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724400"/>
            <a:ext cx="5080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700">
                <a:solidFill>
                  <a:srgbClr val="F6F0E6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她退到船舷，把怀里的东西抱得更紧——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700">
                <a:solidFill>
                  <a:srgbClr val="F6F0E6"/>
                </a:solidFill>
                <a:latin typeface="Noto Serif SC"/>
                <a:ea typeface="Noto Serif SC"/>
                <a:cs typeface="Noto Serif SC"/>
                <a:sym typeface="Noto Serif SC"/>
              </a:rPr>
              <a:t>那是什么，竟比她和孩子的命，还要紧？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6400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C8C0B2">
                    <a:alpha val="7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 · 董健民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EDE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悬念揭晓 · THE ANSWER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/ 12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812800" y="1905000"/>
            <a:ext cx="5334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90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密码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0" y="1905000"/>
            <a:ext cx="482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是密码。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692400"/>
            <a:ext cx="5080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5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她和丈夫护送的，是党在东北的密电码，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背后连着数百个秘密情报站、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5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连着正在挺进东北的千军万马。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40132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而在新婚那天，他们曾立下七个字的誓言——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4470400"/>
            <a:ext cx="5334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740400"/>
            <a:ext cx="965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这七个字，她后来真的用命去兑现。故事，要从七年前说起。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6400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8C7D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 · 董健民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467600" y="914400"/>
            <a:ext cx="4165600" cy="4978400"/>
          </a:xfrm>
          <a:prstGeom prst="roundRect">
            <a:avLst>
              <a:gd name="adj" fmla="val 0"/>
            </a:avLst>
          </a:prstGeom>
          <a:solidFill>
            <a:srgbClr val="2E3A3F">
              <a:alpha val="7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31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她是谁 · WHO SHE IS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/ 12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94" b="94"/>
          <a:stretch>
            <a:fillRect/>
          </a:stretch>
        </p:blipFill>
        <p:spPr>
          <a:xfrm rot="0" flipH="false" flipV="false">
            <a:off x="7645400" y="1066800"/>
            <a:ext cx="3810000" cy="457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762000" y="1219200"/>
            <a:ext cx="6350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董健民（1923—1946）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18796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河北静海（今天津市静海区）贫苦农家的三女儿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7161" flipH="false" flipV="false">
            <a:off x="762007" y="2355850"/>
            <a:ext cx="609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2616200"/>
            <a:ext cx="6477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2500"/>
              </a:lnSpc>
              <a:defRPr/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出身　</a:t>
            </a:r>
            <a:r>
              <a:rPr lang="en-US" b="false" i="false" strike="noStrike" u="none" sz="15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贫苦农家，排行第三，自幼聪明、倔强、胆子大，因家贫被迫辍学。</a:t>
            </a:r>
            <a:endParaRPr lang="en-US" sz="1100"/>
          </a:p>
          <a:p>
            <a:pPr algn="l" marL="0" indent="0">
              <a:lnSpc>
                <a:spcPct val="162500"/>
              </a:lnSpc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引路　</a:t>
            </a:r>
            <a:r>
              <a:rPr lang="en-US" b="false" i="false" strike="noStrike" u="none" sz="15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叔父董秋斯是翻译家、中共地下党员，为她点亮了革命的灯。</a:t>
            </a:r>
          </a:p>
          <a:p>
            <a:pPr algn="l" marL="0" indent="0">
              <a:lnSpc>
                <a:spcPct val="162500"/>
              </a:lnSpc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性格　</a:t>
            </a:r>
            <a:r>
              <a:rPr lang="en-US" b="false" i="false" strike="noStrike" u="none" sz="15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倔强、胆大、认死理，一旦认准的路，绝不回头。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6896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就是这样一个农村姑娘，后来成了“党中央的耳朵”。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400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8C7D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 · 董健民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22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4572000"/>
            <a:ext cx="12192000" cy="2286000"/>
          </a:xfrm>
          <a:prstGeom prst="roundRect">
            <a:avLst>
              <a:gd name="adj" fmla="val 0"/>
            </a:avLst>
          </a:prstGeom>
          <a:solidFill>
            <a:srgbClr val="181C22">
              <a:alpha val="7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431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奔赴延安 · TO YAN'AN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05 / 12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EAE0">
                <a:alpha val="3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48768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0E9DD"/>
                </a:solidFill>
                <a:latin typeface="Noto Serif SC"/>
                <a:ea typeface="Noto Serif SC"/>
                <a:cs typeface="Noto Serif SC"/>
                <a:sym typeface="Noto Serif SC"/>
              </a:rPr>
              <a:t>1939 年春，16 岁的她和两个姐姐扮成村姑离家，渡海南下，辗转千里走到了延安。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407" flipH="false" flipV="false">
            <a:off x="1143004" y="5734050"/>
            <a:ext cx="990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EAE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2336800" y="56642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019800" y="56642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702800" y="56642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918200"/>
            <a:ext cx="330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1939 春</a:t>
            </a:r>
            <a:r>
              <a:rPr lang="en-US" b="false" i="false" strike="noStrike" u="none" sz="13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三姐妹离家南下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5918200"/>
            <a:ext cx="330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1940</a:t>
            </a:r>
            <a:r>
              <a:rPr lang="en-US" b="false" i="false" strike="noStrike" u="none" sz="13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到延安 · 入陕北公学 · 入党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5918200"/>
            <a:ext cx="330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1941</a:t>
            </a:r>
            <a:r>
              <a:rPr lang="en-US" b="false" i="false" strike="noStrike" u="none" sz="13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18 岁调入中央社会部机要科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47903" r="0" t="0" b="0"/>
          <a:stretch>
            <a:fillRect/>
          </a:stretch>
        </p:blipFill>
        <p:spPr>
          <a:xfrm rot="0" flipH="false" flipV="false">
            <a:off x="5842000" y="0"/>
            <a:ext cx="6350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762000" y="431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她的工作 · THE PARTY'S EARS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572000" y="4318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06 / 12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9046" flipH="false" flipV="false">
            <a:off x="762008" y="755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62000" y="1168400"/>
            <a:ext cx="5080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“党中央的耳朵”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7526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中央社会部机要科 · 电台侦听员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9046" flipH="false" flipV="false">
            <a:off x="762008" y="22034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2413000"/>
            <a:ext cx="4978400" cy="314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任务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戴上耳机日夜守听，从敌台的无线电信号里抢抄情报。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硬功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莫尔斯电码“压码抄收”，合格 80 码/分，好手能到 100 码/分。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密码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“豪密”由周恩来主持编制，一次一密、同字不同码，极难破译。</a:t>
            </a:r>
          </a:p>
          <a:p>
            <a:pPr algn="l" marL="0" indent="0">
              <a:lnSpc>
                <a:spcPct val="150000"/>
              </a:lnSpc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纪律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耳朵里听到的每一个字，都要永远烂在肚子里。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740400"/>
            <a:ext cx="4978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她守的，是一条没有硝烟、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却字字千钧的隐蔽战线。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他与她 · HE AND SHE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07 / 12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35" b="35"/>
          <a:stretch>
            <a:fillRect/>
          </a:stretch>
        </p:blipFill>
        <p:spPr>
          <a:xfrm rot="0" flipH="false" flipV="false">
            <a:off x="1219200" y="1016000"/>
            <a:ext cx="2997200" cy="4597400"/>
          </a:xfrm>
          <a:prstGeom prst="rect">
            <a:avLst/>
          </a:prstGeom>
          <a:noFill/>
          <a:ln w="12700" cmpd="sng" cap="flat">
            <a:solidFill>
              <a:srgbClr val="4A443C">
                <a:alpha val="100000"/>
              </a:srgbClr>
            </a:solidFill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914400" y="5715000"/>
            <a:ext cx="36068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1946 年赴东北前夕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0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钟琪、董健民与儿子明明于延安留影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1117600"/>
            <a:ext cx="622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她嫁给了同科的译电员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17018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1942 年 · 延安枣园窑洞 · 李克农证婚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7015" flipH="false" flipV="false">
            <a:off x="5080006" y="2152650"/>
            <a:ext cx="622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5080000" y="2362200"/>
            <a:ext cx="6172200" cy="299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8333"/>
              </a:lnSpc>
              <a:defRPr/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钟琪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原名陈贯忠，比她大两岁，17 岁入党，是科里的译电骨干。</a:t>
            </a:r>
            <a:endParaRPr lang="en-US" sz="1100"/>
          </a:p>
          <a:p>
            <a:pPr algn="l" marL="0" indent="0">
              <a:lnSpc>
                <a:spcPct val="148333"/>
              </a:lnSpc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为人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人瘦、业务尖、心肠热，常把津贴省下的物品分给战友。</a:t>
            </a:r>
          </a:p>
          <a:p>
            <a:pPr algn="l" marL="0" indent="0">
              <a:lnSpc>
                <a:spcPct val="148333"/>
              </a:lnSpc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相守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雪夜里一盆炭火，两人相对而坐，听窗外落雪无声。</a:t>
            </a:r>
          </a:p>
          <a:p>
            <a:pPr algn="l" marL="0" indent="0">
              <a:lnSpc>
                <a:spcPct val="148333"/>
              </a:lnSpc>
            </a:pPr>
            <a:r>
              <a:rPr lang="en-US" b="tru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孩子　</a:t>
            </a:r>
            <a:r>
              <a:rPr lang="en-US" b="false" i="false" strike="noStrike" u="none" sz="135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儿子钟明明，是他们捧在手心里的宝贝。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80000" y="5588000"/>
            <a:ext cx="6223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他们是夫妻，更是同一条战线上，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可以把后背托付给对方的战友。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A18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61412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4318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窑洞婚礼 · 誓言 · THE VOW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08 / 12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EAE0">
                <a:alpha val="3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12192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新 婚 之 夜 ， 他 们 共 同 立 下 誓 言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1854200"/>
            <a:ext cx="9398000" cy="317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58333"/>
              </a:lnSpc>
              <a:defRPr/>
            </a:pPr>
            <a:r>
              <a:rPr lang="en-US" b="true" i="false" strike="noStrike" u="none" sz="21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“为了千百万人能够得到解放，</a:t>
            </a:r>
            <a:endParaRPr lang="en-US" sz="1100"/>
          </a:p>
          <a:p>
            <a:pPr algn="ctr" marL="0" indent="0">
              <a:lnSpc>
                <a:spcPct val="158333"/>
              </a:lnSpc>
            </a:pPr>
            <a:r>
              <a:rPr lang="en-US" b="true" i="false" strike="noStrike" u="none" sz="21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为了实现共产主义理想，</a:t>
            </a:r>
          </a:p>
          <a:p>
            <a:pPr algn="ctr" marL="0" indent="0">
              <a:lnSpc>
                <a:spcPct val="158333"/>
              </a:lnSpc>
            </a:pPr>
            <a:r>
              <a:rPr lang="en-US" b="true" i="false" strike="noStrike" u="none" sz="21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宁可牺牲自己的性命，</a:t>
            </a:r>
          </a:p>
          <a:p>
            <a:pPr algn="ctr" marL="0" indent="0">
              <a:lnSpc>
                <a:spcPct val="158333"/>
              </a:lnSpc>
            </a:pPr>
            <a:r>
              <a:rPr lang="en-US" b="true" i="false" strike="noStrike" u="none" sz="21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也绝不泄露党的机密，</a:t>
            </a:r>
          </a:p>
          <a:p>
            <a:pPr algn="ctr" marL="0" indent="0">
              <a:lnSpc>
                <a:spcPct val="158333"/>
              </a:lnSpc>
            </a:pPr>
            <a:r>
              <a:rPr lang="en-US" b="true" i="false" strike="noStrike" u="none" sz="21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誓与密码共存亡！”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97000" y="5130800"/>
            <a:ext cx="939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—— 董健民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78500" y="5664200"/>
            <a:ext cx="635000" cy="635000"/>
          </a:xfrm>
          <a:prstGeom prst="roundRect">
            <a:avLst>
              <a:gd name="adj" fmla="val 0"/>
            </a:avLst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78500" y="5664200"/>
            <a:ext cx="63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誓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64262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CDC5B7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这不是婚礼上的祝词，而是一句随时准备用生命去兑现的承诺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DE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密码之重 · WHY IT MATTERS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09 / 12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066800"/>
            <a:ext cx="8890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密码，为什么比命还重？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854200"/>
            <a:ext cx="33020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一本密电码</a:t>
            </a: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党的最高机密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632200" y="2032000"/>
            <a:ext cx="584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91000" y="1854200"/>
            <a:ext cx="33020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数百个情报站</a:t>
            </a: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东北地下党的命脉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15200" y="2032000"/>
            <a:ext cx="5842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→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74000" y="1854200"/>
            <a:ext cx="33020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true" i="false" strike="noStrike" u="none" sz="17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千军万马</a:t>
            </a: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/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挺进东北的战局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0988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密码一旦落敌手，情报网会在一夜之间被连根拔起，无数同志人头落地。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11787" b="11787"/>
          <a:stretch>
            <a:fillRect/>
          </a:stretch>
        </p:blipFill>
        <p:spPr>
          <a:xfrm rot="0" flipH="false" flipV="false">
            <a:off x="762000" y="3784600"/>
            <a:ext cx="5080000" cy="21844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6248400" y="3810000"/>
            <a:ext cx="520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1946 · 绝 密 任 务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48400" y="4191000"/>
            <a:ext cx="5232400" cy="149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5833"/>
              </a:lnSpc>
              <a:defRPr/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组织派他们携密电码，由烟台乘船</a:t>
            </a:r>
            <a:endParaRPr lang="en-US" sz="1100"/>
          </a:p>
          <a:p>
            <a:pPr algn="l" marL="0" indent="0">
              <a:lnSpc>
                <a:spcPct val="145833"/>
              </a:lnSpc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走海路到大连，赴东北建立秘密电台。</a:t>
            </a:r>
          </a:p>
          <a:p>
            <a:pPr algn="l" marL="0" indent="0">
              <a:lnSpc>
                <a:spcPct val="145833"/>
              </a:lnSpc>
            </a:pPr>
            <a:r>
              <a:rPr lang="en-US" b="true" i="false" strike="noStrike" u="none" sz="14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而此时，渤海已被国民党军舰封锁。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61722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8C7D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图为示意的密码本场景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A2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609600" y="1092200"/>
            <a:ext cx="5969000" cy="1143000"/>
          </a:xfrm>
          <a:prstGeom prst="roundRect">
            <a:avLst>
              <a:gd name="adj" fmla="val 0"/>
            </a:avLst>
          </a:prstGeom>
          <a:solidFill>
            <a:srgbClr val="12151B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724400"/>
            <a:ext cx="12192000" cy="2133600"/>
          </a:xfrm>
          <a:prstGeom prst="roundRect">
            <a:avLst>
              <a:gd name="adj" fmla="val 0"/>
            </a:avLst>
          </a:prstGeom>
          <a:solidFill>
            <a:srgbClr val="12151B">
              <a:alpha val="8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318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92157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渤海惊涛 · THE FINAL MOMENT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CD4C6">
                    <a:alpha val="92157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10 / 12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EAE0">
                <a:alpha val="3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12800" y="1219200"/>
            <a:ext cx="558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400">
                <a:solidFill>
                  <a:srgbClr val="F0E9DD"/>
                </a:solidFill>
                <a:latin typeface="Noto Serif SC"/>
                <a:ea typeface="Noto Serif SC"/>
                <a:cs typeface="Noto Serif SC"/>
                <a:sym typeface="Noto Serif SC"/>
              </a:rPr>
              <a:t>中弹的孩子在怀里啼哭，她拢了拢头发，</a:t>
            </a:r>
            <a:endParaRPr lang="en-US" sz="1100"/>
          </a:p>
          <a:p>
            <a:pPr algn="l" marL="0" indent="0">
              <a:lnSpc>
                <a:spcPct val="129166"/>
              </a:lnSpc>
            </a:pPr>
            <a:r>
              <a:rPr lang="en-US" b="false" i="false" strike="noStrike" u="none" sz="1400">
                <a:solidFill>
                  <a:srgbClr val="F0E9DD"/>
                </a:solidFill>
                <a:latin typeface="Noto Serif SC"/>
                <a:ea typeface="Noto Serif SC"/>
                <a:cs typeface="Noto Serif SC"/>
                <a:sym typeface="Noto Serif SC"/>
              </a:rPr>
              <a:t>朝扑上来的敌人，露出一个轻蔑的冷笑。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927600"/>
            <a:ext cx="6985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45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因叛徒告密，军舰截停客轮，炮弹击中甲板；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5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他们把密件紧紧贴在胸前，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45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一家三口抱在一起，纵身跃入滔滔渤海。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77200" y="4978400"/>
            <a:ext cx="3429000" cy="1168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 </a:t>
            </a:r>
            <a:r>
              <a:rPr lang="en-US" b="true" i="false" strike="noStrike" u="none" sz="26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23</a:t>
            </a:r>
            <a:r>
              <a:rPr lang="en-US" b="false" i="false" strike="noStrike" u="none" sz="15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 岁　他 </a:t>
            </a:r>
            <a:r>
              <a:rPr lang="en-US" b="true" i="false" strike="noStrike" u="none" sz="26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25</a:t>
            </a:r>
            <a:r>
              <a:rPr lang="en-US" b="false" i="false" strike="noStrike" u="none" sz="15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 岁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5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孩子，刚满 </a:t>
            </a:r>
            <a:r>
              <a:rPr lang="en-US" b="true" i="false" strike="noStrike" u="none" sz="26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r>
              <a:rPr lang="en-US" b="false" i="false" strike="noStrike" u="none" sz="15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 岁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63246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那句“誓与密码共存亡”，在这一刻，兑现了。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2EDE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4318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迟到的纪念 · REMEMBERED AT LAST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C8273"/>
                </a:solidFill>
                <a:latin typeface="Noto Serif SC"/>
                <a:ea typeface="Noto Serif SC"/>
                <a:cs typeface="Noto Serif SC"/>
                <a:sym typeface="Noto Serif SC"/>
              </a:rPr>
              <a:t>11 / 12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3C3730">
                <a:alpha val="2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762000" y="10922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他们的名字，终究被记住了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385308" flipH="false" flipV="false">
            <a:off x="38100" y="3968764"/>
            <a:ext cx="2971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03A2E">
                <a:alpha val="5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447800" y="25654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47800" y="32258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47800" y="38862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47800" y="45466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47800" y="5207000"/>
            <a:ext cx="152400" cy="152400"/>
          </a:xfrm>
          <a:prstGeom prst="ellipse">
            <a:avLst/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54200" y="2438400"/>
            <a:ext cx="109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1947 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098800" y="2438400"/>
            <a:ext cx="812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延安撤离前，中央为两位烈士举行了追悼会。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54200" y="3098800"/>
            <a:ext cx="109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1981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098800" y="3098800"/>
            <a:ext cx="812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牺牲 35 年后，经老同志证明，被追认为革命烈士。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54200" y="3759200"/>
            <a:ext cx="109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1983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098800" y="3759200"/>
            <a:ext cx="812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家人才辗转得知消息，以遗物为他们修起衣冠冢。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854200" y="4419600"/>
            <a:ext cx="109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今天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098800" y="4419600"/>
            <a:ext cx="812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西柏坡纪念馆“无名的丰碑”展厅，长年陈列着他们。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854200" y="5080000"/>
            <a:ext cx="1092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02A"/>
                </a:solidFill>
                <a:latin typeface="Noto Serif SC"/>
                <a:ea typeface="Noto Serif SC"/>
                <a:cs typeface="Noto Serif SC"/>
                <a:sym typeface="Noto Serif SC"/>
              </a:rPr>
              <a:t>2025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098800" y="5080000"/>
            <a:ext cx="812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A3630"/>
                </a:solidFill>
                <a:latin typeface="Noto Serif SC"/>
                <a:ea typeface="Noto Serif SC"/>
                <a:cs typeface="Noto Serif SC"/>
                <a:sym typeface="Noto Serif SC"/>
              </a:rPr>
              <a:t>家乡刘祥庄村“董健民事迹纪念展厅”落成开放。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9690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03A2E"/>
                </a:solidFill>
                <a:latin typeface="Noto Serif SC"/>
                <a:ea typeface="Noto Serif SC"/>
                <a:cs typeface="Noto Serif SC"/>
                <a:sym typeface="Noto Serif SC"/>
              </a:rPr>
              <a:t>隐蔽战线的英雄无名，但他们不该、也终未被遗忘。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6400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8C7D">
                    <a:alpha val="85098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 · 董健民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E24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181E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431800"/>
            <a:ext cx="431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ED6C8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致当代 · OUR TIME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0" y="431800"/>
            <a:ext cx="127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DED6C8">
                    <a:alpha val="90196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12 / 12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4092" flipH="false" flipV="false">
            <a:off x="762004" y="75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0EAE0">
                <a:alpha val="3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1168400"/>
            <a:ext cx="1066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45446"/>
                </a:solidFill>
                <a:latin typeface="Noto Serif SC"/>
                <a:ea typeface="Noto Serif SC"/>
                <a:cs typeface="Noto Serif SC"/>
                <a:sym typeface="Noto Serif SC"/>
              </a:rPr>
              <a:t>80 年 过 去 ， 这 句 誓 言 从 未 过 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1727200"/>
            <a:ext cx="9652000" cy="157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54166"/>
              </a:lnSpc>
              <a:defRPr/>
            </a:pPr>
            <a:r>
              <a:rPr lang="en-US" b="false" i="false" strike="noStrike" u="none" sz="15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从“誓与密码共存亡”，到今天的总体国家安全观；</a:t>
            </a:r>
            <a:endParaRPr lang="en-US" sz="1100"/>
          </a:p>
          <a:p>
            <a:pPr algn="ctr" marL="0" indent="0">
              <a:lnSpc>
                <a:spcPct val="154166"/>
              </a:lnSpc>
            </a:pPr>
            <a:r>
              <a:rPr lang="en-US" b="false" i="false" strike="noStrike" u="none" sz="15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无名战线仍在——国安干警、密码与芯片、核心技术攻关；</a:t>
            </a:r>
          </a:p>
          <a:p>
            <a:pPr algn="ctr" marL="0" indent="0">
              <a:lnSpc>
                <a:spcPct val="154166"/>
              </a:lnSpc>
            </a:pPr>
            <a:r>
              <a:rPr lang="en-US" b="false" i="false" strike="noStrike" u="none" sz="1500">
                <a:solidFill>
                  <a:srgbClr val="EEE7DB"/>
                </a:solidFill>
                <a:latin typeface="Noto Serif SC"/>
                <a:ea typeface="Noto Serif SC"/>
                <a:cs typeface="Noto Serif SC"/>
                <a:sym typeface="Noto Serif SC"/>
              </a:rPr>
              <a:t>她当年用命守护的密码，正是今天我们要守的“国之重器”。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505200"/>
            <a:ext cx="1066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今天的我们，愿意为什么而坚守？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140200"/>
            <a:ext cx="10668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F8F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这盛世，如你所愿。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40400" y="5054600"/>
            <a:ext cx="711200" cy="38100"/>
          </a:xfrm>
          <a:prstGeom prst="roundRect">
            <a:avLst>
              <a:gd name="adj" fmla="val 0"/>
            </a:avLst>
          </a:prstGeom>
          <a:solidFill>
            <a:srgbClr val="B03A2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7404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4DCD0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谢谢观看 · 谨以此致敬所有隐姓埋名的忠诚卫士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6400800"/>
            <a:ext cx="10668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CDC5B7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誓与密码共存亡 · 董健民（1923—1946）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