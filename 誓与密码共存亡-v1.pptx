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86384" y="1170432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spc="4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红色名言解读 · 思政课「我来讲」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49808" y="1517904"/>
            <a:ext cx="694944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5400" b="1" spc="500" kern="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</a:t>
            </a:r>
            <a:endParaRPr lang="en-US" sz="5400" dirty="0"/>
          </a:p>
        </p:txBody>
      </p:sp>
      <p:sp>
        <p:nvSpPr>
          <p:cNvPr id="4" name="Shape 2"/>
          <p:cNvSpPr/>
          <p:nvPr/>
        </p:nvSpPr>
        <p:spPr>
          <a:xfrm>
            <a:off x="786384" y="2798064"/>
            <a:ext cx="2834640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2962656"/>
            <a:ext cx="7498080" cy="8595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800"/>
              </a:spcAft>
              <a:buNone/>
            </a:pPr>
            <a:r>
              <a:rPr lang="en-US" sz="160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一句 47 字的话 · 一个 23 岁的人 · 一片渤海</a:t>
            </a:r>
            <a:endParaRPr lang="en-US" sz="1600" dirty="0"/>
          </a:p>
          <a:p>
            <a:pPr algn="l" indent="0" marL="0">
              <a:spcAft>
                <a:spcPts val="800"/>
              </a:spcAft>
              <a:buNone/>
            </a:pPr>
            <a:r>
              <a:rPr lang="en-US" sz="12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董健民（1923—1946） 中共中央社会部机要科 · 译电员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背景：原稿保留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忠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29264/Desktop/思政课ppt/素材-v1/images/scrim-botto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5715000"/>
            <a:ext cx="12191695" cy="1143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86384" y="4626864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spc="400" kern="0" dirty="0">
                <a:solidFill>
                  <a:srgbClr val="C9C2B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1946 年 11 月 7 日 · 渤海</a:t>
            </a:r>
            <a:endParaRPr lang="en-US" sz="1300" dirty="0"/>
          </a:p>
        </p:txBody>
      </p:sp>
      <p:sp>
        <p:nvSpPr>
          <p:cNvPr id="4" name="Text 1"/>
          <p:cNvSpPr/>
          <p:nvPr/>
        </p:nvSpPr>
        <p:spPr>
          <a:xfrm>
            <a:off x="786384" y="4974336"/>
            <a:ext cx="10424160" cy="12984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一艘由烟台开往大连的船，被国民党军舰截停。</a:t>
            </a:r>
            <a:endParaRPr lang="en-US" sz="17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炮弹击中甲板，两岁的孩子头部中了弹片。</a:t>
            </a:r>
            <a:endParaRPr lang="en-US" sz="17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她把党的密件紧贴胸口，和丈夫、孩子抱在一起，翻过船舷。</a:t>
            </a:r>
            <a:endParaRPr lang="en-US" sz="17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三个人，都没有再上来。</a:t>
            </a:r>
            <a:endParaRPr lang="en-US" sz="1750" dirty="0"/>
          </a:p>
        </p:txBody>
      </p:sp>
      <p:sp>
        <p:nvSpPr>
          <p:cNvPr id="5" name="Shape 2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02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9" name="Text 6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据天津日报、今晚报、解放军报</a:t>
            </a:r>
            <a:endParaRPr lang="en-US" sz="750" dirty="0"/>
          </a:p>
        </p:txBody>
      </p:sp>
      <p:sp>
        <p:nvSpPr>
          <p:cNvPr id="10" name="Shape 7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忠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本课方法 · 不按年份讲，按这句话讲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5200"/>
              </a:lnSpc>
              <a:buNone/>
            </a:pPr>
            <a:r>
              <a:rPr lang="en-US" sz="3300" dirty="0">
                <a:solidFill>
                  <a:srgbClr val="BDB7A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为了千百万人能够得到解放，</a:t>
            </a:r>
            <a:endParaRPr lang="en-US" sz="33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3300" dirty="0">
                <a:solidFill>
                  <a:srgbClr val="BDB7A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为了实现共产主义理想，</a:t>
            </a:r>
            <a:endParaRPr lang="en-US" sz="33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3300" dirty="0">
                <a:solidFill>
                  <a:srgbClr val="BDB7AB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宁可牺牲自己的性命，也绝不泄露党的机密，</a:t>
            </a:r>
            <a:endParaRPr lang="en-US" sz="3300" dirty="0"/>
          </a:p>
          <a:p>
            <a:pPr algn="l" indent="0" marL="0">
              <a:lnSpc>
                <a:spcPts val="5200"/>
              </a:lnSpc>
              <a:buNone/>
            </a:pPr>
            <a:r>
              <a:rPr lang="en-US" sz="33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誓与密码共存亡！</a:t>
            </a:r>
            <a:endParaRPr lang="en-US" sz="3300" dirty="0"/>
          </a:p>
        </p:txBody>
      </p:sp>
      <p:sp>
        <p:nvSpPr>
          <p:cNvPr id="4" name="Shape 2"/>
          <p:cNvSpPr/>
          <p:nvPr/>
        </p:nvSpPr>
        <p:spPr>
          <a:xfrm>
            <a:off x="566928" y="3529584"/>
            <a:ext cx="10881360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3675888"/>
            <a:ext cx="10881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这句话还有四十字。今天分四章读回来——每章只挑一个词，让她的一生来解释它。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566928" y="4315968"/>
            <a:ext cx="2542032" cy="1481328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章 一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731520" y="47183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千百万人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731520" y="523036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1923 — 1939 南下延安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10128" y="4315968"/>
            <a:ext cx="2542032" cy="1481328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474720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章 二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3474720" y="47183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实 现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3474720" y="523036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1940 — 1941 机要科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53328" y="4315968"/>
            <a:ext cx="2542032" cy="1481328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217920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章 三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6217920" y="47183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宁可…也绝不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6217920" y="523036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1942 婚誓 · 1946 渤海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796528" y="4315968"/>
            <a:ext cx="2542032" cy="1481328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961120" y="4443984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章 四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8961120" y="4718304"/>
            <a:ext cx="223113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共存亡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8961120" y="5230368"/>
            <a:ext cx="22311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1981 — 2025 与今天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03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忠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第一章 · 命中一个词：千百万人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627632"/>
            <a:ext cx="5669280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1956816"/>
            <a:ext cx="7680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把这句话数一遍。</a:t>
            </a:r>
            <a:endParaRPr lang="en-US" sz="2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0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47 个字里，没有一个「我」。</a:t>
            </a:r>
            <a:endParaRPr lang="en-US" sz="2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前 22 个字里，只有「别人」——</a:t>
            </a:r>
            <a:endParaRPr lang="en-US" sz="2000" dirty="0"/>
          </a:p>
          <a:p>
            <a:pPr algn="l" indent="0" marL="0">
              <a:lnSpc>
                <a:spcPts val="3800"/>
              </a:lnSpc>
              <a:buNone/>
            </a:pPr>
            <a:r>
              <a:rPr lang="en-US" sz="20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千百万人，和一个理想。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566928" y="4224528"/>
            <a:ext cx="7680960" cy="1371600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41248" y="4407408"/>
            <a:ext cx="7132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20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先问一句：</a:t>
            </a:r>
            <a:endParaRPr lang="en-US" sz="12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9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「千百万人」是谁？她见过吗？</a:t>
            </a:r>
            <a:endParaRPr lang="en-US" sz="12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25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下一页，她会遇见的第一个人，是她自己家的大姐。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04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光明日报 2019-04-16 · 共产党员网转载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众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29264/Desktop/思政课ppt/素材-v1/images/ill-01-nanxia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0"/>
            <a:ext cx="5790895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2512" y="0"/>
            <a:ext cx="18288" cy="6035040"/>
          </a:xfrm>
          <a:prstGeom prst="rect">
            <a:avLst/>
          </a:prstGeom>
          <a:solidFill>
            <a:srgbClr val="8A8F94"/>
          </a:solidFill>
          <a:ln w="12700">
            <a:solidFill>
              <a:srgbClr val="8A8F9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第一章 · 千百万人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66928" y="731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出发时三个人，到延安两个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792224"/>
            <a:ext cx="557784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15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1923</a:t>
            </a:r>
            <a:pPr algn="l"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生于河北静海刘祥庄村，贫苦农家，排行第三，家贫辍学</a:t>
            </a:r>
            <a:endParaRPr lang="en-US" sz="15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1939 年春</a:t>
            </a:r>
            <a:endParaRPr lang="en-US" sz="15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三姐妹扮成村姑离家，渡海南下</a:t>
            </a:r>
            <a:endParaRPr lang="en-US" sz="15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35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天津 → 香港 → 凭祥 → 贵阳 → 西安 → 徒步 800 里</a:t>
            </a:r>
            <a:endParaRPr lang="en-US" sz="15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历时约 8 个月，辗转两万里。大姐董清民死在了路上。</a:t>
            </a:r>
            <a:endParaRPr lang="en-US" sz="15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1939 年 11 月</a:t>
            </a:r>
            <a:endParaRPr lang="en-US" sz="1550" dirty="0"/>
          </a:p>
          <a:p>
            <a:pPr algn="l" indent="0" marL="0">
              <a:lnSpc>
                <a:spcPts val="2700"/>
              </a:lnSpc>
              <a:buNone/>
            </a:pPr>
            <a:r>
              <a:rPr lang="en-US" sz="15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到延安，入陕北公学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566928" y="5047488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她说的「千百万人」不是抽象的多数——她家就是这四万万人里的一户。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05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据人民网党史、天津日报、湖南日报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众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/Users/29264/Desktop/思政课ppt/素材-v1/images/ill-02-yaodong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6400800" y="0"/>
            <a:ext cx="5790895" cy="603504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382512" y="0"/>
            <a:ext cx="18288" cy="6035040"/>
          </a:xfrm>
          <a:prstGeom prst="rect">
            <a:avLst/>
          </a:prstGeom>
          <a:solidFill>
            <a:srgbClr val="8A8F94"/>
          </a:solidFill>
          <a:ln w="12700">
            <a:solidFill>
              <a:srgbClr val="8A8F94"/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第二章 · 命中一个词：实现</a:t>
            </a:r>
            <a:endParaRPr lang="en-US" sz="1150" dirty="0"/>
          </a:p>
        </p:txBody>
      </p:sp>
      <p:sp>
        <p:nvSpPr>
          <p:cNvPr id="5" name="Text 2"/>
          <p:cNvSpPr/>
          <p:nvPr/>
        </p:nvSpPr>
        <p:spPr>
          <a:xfrm>
            <a:off x="566928" y="731520"/>
            <a:ext cx="5577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理想落到手上，才叫实现</a:t>
            </a:r>
            <a:endParaRPr lang="en-US" sz="2600" dirty="0"/>
          </a:p>
        </p:txBody>
      </p:sp>
      <p:sp>
        <p:nvSpPr>
          <p:cNvPr id="6" name="Text 3"/>
          <p:cNvSpPr/>
          <p:nvPr/>
        </p:nvSpPr>
        <p:spPr>
          <a:xfrm>
            <a:off x="566928" y="1792224"/>
            <a:ext cx="557784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1940 年秋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在延安入党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1941 年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中央社会部机要科 · 译电员 · 18 岁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直接领导：李克农。他给姐妹俩定代号——「大董」「小董」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她一组负责联系重庆方向的秘密电台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  周恩来的电报，昼夜不停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25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社会部职能之四：管理机要部门的工作，保障保密工作的执行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66928" y="512064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400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一个辍学的农家姑娘，能坐在那台机器前面——她的理想是一段真实的线路。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06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2" name="Text 9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据人民网党史、天津日报、外交部李克农简历</a:t>
            </a:r>
            <a:endParaRPr lang="en-US" sz="750" dirty="0"/>
          </a:p>
        </p:txBody>
      </p:sp>
      <p:sp>
        <p:nvSpPr>
          <p:cNvPr id="13" name="Shape 10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愿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第二章 · 补证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这句话不是她发明的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7315200" cy="859536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49808" y="186537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1932.7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828800" y="1865376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朱德、王稼祥、彭德怀《七条无线电通信规则》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749808" y="2157984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密电码本必须交忠实可靠的译电员随身保存——「要看同自己的生命一样重要」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566928" y="2724912"/>
            <a:ext cx="7315200" cy="859536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8346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1940.12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828800" y="283464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毛泽东、朱德致电项英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749808" y="3127248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「密码要带在最可靠的同志身上，并预先研究遇危险时如何处置……不留机密文件片纸只字」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566928" y="3694176"/>
            <a:ext cx="7315200" cy="859536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49808" y="3803904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1941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828800" y="3803904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毛泽东为中央军委机要处题词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749808" y="4096512"/>
            <a:ext cx="69494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「保守机密，慎之又慎」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8229600" y="17556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译 电 格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8229600" y="2103120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9600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0472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9857232" y="2103120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57232" y="2103120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1163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229600" y="2505456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229600" y="25054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0913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9857232" y="2505456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857232" y="2505456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2276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8229600" y="2907792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229600" y="29077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0472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9857232" y="2907792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857232" y="2907792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0198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229600" y="3310128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8229600" y="3310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1604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9857232" y="3310128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857232" y="3310128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0347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8229600" y="3712464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8229600" y="37124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2276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9857232" y="3712464"/>
            <a:ext cx="1554480" cy="347472"/>
          </a:xfrm>
          <a:prstGeom prst="rect">
            <a:avLst/>
          </a:prstGeom>
          <a:solidFill>
            <a:srgbClr val="EDE7DA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857232" y="3712464"/>
            <a:ext cx="1554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spc="200" kern="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0913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8229600" y="4224528"/>
            <a:ext cx="3182112" cy="457200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4224528"/>
            <a:ext cx="31821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spc="800" kern="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生 命</a:t>
            </a:r>
            <a:endParaRPr lang="en-US" sz="2200" dirty="0"/>
          </a:p>
        </p:txBody>
      </p:sp>
      <p:sp>
        <p:nvSpPr>
          <p:cNvPr id="39" name="Text 37"/>
          <p:cNvSpPr/>
          <p:nvPr/>
        </p:nvSpPr>
        <p:spPr>
          <a:xfrm>
            <a:off x="566928" y="4809744"/>
            <a:ext cx="7315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1942 年，她把一句纪律，说成了自己的话。</a:t>
            </a:r>
            <a:endParaRPr lang="en-US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en-US" sz="125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一问：从 1932 年到 2025 年，这四个文本共同在做的一件事是什么？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07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《中国共产党保密工作史》第八章 · 吉林省国家保密局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愿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57200"/>
            <a:ext cx="5852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第三章 · 命中一个词：宁可…也绝不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896112"/>
            <a:ext cx="60350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全句第二十三字，「自己」第一次出现。</a:t>
            </a:r>
            <a:endParaRPr lang="en-US" sz="21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1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它后面紧跟的词，是「性命」。</a:t>
            </a:r>
            <a:endParaRPr lang="en-US" sz="2100" dirty="0"/>
          </a:p>
          <a:p>
            <a:pPr algn="l" indent="0" marL="0">
              <a:lnSpc>
                <a:spcPts val="3400"/>
              </a:lnSpc>
              <a:buNone/>
            </a:pPr>
            <a:r>
              <a:rPr lang="en-US" sz="21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而说出这句话的那天，是她的婚礼。</a:t>
            </a:r>
            <a:endParaRPr lang="en-US" sz="2100" dirty="0"/>
          </a:p>
        </p:txBody>
      </p:sp>
      <p:sp>
        <p:nvSpPr>
          <p:cNvPr id="4" name="Shape 2"/>
          <p:cNvSpPr/>
          <p:nvPr/>
        </p:nvSpPr>
        <p:spPr>
          <a:xfrm>
            <a:off x="640080" y="2852928"/>
            <a:ext cx="5394960" cy="1883664"/>
          </a:xfrm>
          <a:prstGeom prst="rect">
            <a:avLst/>
          </a:prstGeom>
          <a:solidFill>
            <a:srgbClr val="EDE7DA">
              <a:alpha val="88000"/>
            </a:srgbClr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3035808"/>
            <a:ext cx="493776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6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1942 年底 · 延安枣园一间窑洞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证婚人：李克农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新郎钟琪，同科译电员，比她大两岁，牺牲时 25 岁</a:t>
            </a:r>
            <a:endParaRPr lang="en-US" sz="160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0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1943 年，儿子明明出生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4956048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18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别人结婚许的是长久，他们结婚许的是共存亡。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400800" y="5120640"/>
            <a:ext cx="5120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董健民、钟琪 · 1942 年延安枣园结婚誓词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08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据人民网党史、光明日报、天津日报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512064"/>
            <a:ext cx="1060704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300" dirty="0">
                <a:solidFill>
                  <a:srgbClr val="C9C2B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1946 年 10 月 党中央决定在大连建立秘密电台，李克农指派二人携密电码由山东乘船走海路</a:t>
            </a:r>
            <a:endParaRPr lang="en-US" sz="175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因叛徒告密，军舰截停，炮弹中船</a:t>
            </a:r>
            <a:endParaRPr lang="en-US" sz="175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敌舰叫嚣：「延安来的共产党，速速交出秘密文件」</a:t>
            </a:r>
            <a:endParaRPr lang="en-US" sz="175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他们把密件紧贴胸前，喊：「宁死不当俘虏，同志们跳海！」</a:t>
            </a:r>
            <a:endParaRPr lang="en-US" sz="175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750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一家三口相拥跃入渤海 · 她 23 岁，他 25 岁</a:t>
            </a:r>
            <a:endParaRPr lang="en-US" sz="175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750" b="1" dirty="0">
                <a:solidFill>
                  <a:srgbClr val="E2A08C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秘密文件，一页没有落到敌人手里。</a:t>
            </a:r>
            <a:endParaRPr lang="en-US" sz="1750" dirty="0"/>
          </a:p>
        </p:txBody>
      </p:sp>
      <p:sp>
        <p:nvSpPr>
          <p:cNvPr id="3" name="Shape 1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09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据天津日报、今晚报、解放军报</a:t>
            </a:r>
            <a:endParaRPr lang="en-US" sz="750" dirty="0"/>
          </a:p>
        </p:txBody>
      </p:sp>
      <p:sp>
        <p:nvSpPr>
          <p:cNvPr id="8" name="Shape 6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第三章 · 尾声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57200" y="1097280"/>
            <a:ext cx="23774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1000" b="1" dirty="0">
                <a:solidFill>
                  <a:srgbClr val="B4452F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1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3200400" y="1371600"/>
            <a:ext cx="8412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全船只有一名交通员活着回来</a:t>
            </a:r>
            <a:endParaRPr lang="en-US" sz="2700" dirty="0"/>
          </a:p>
        </p:txBody>
      </p:sp>
      <p:sp>
        <p:nvSpPr>
          <p:cNvPr id="5" name="Shape 3"/>
          <p:cNvSpPr/>
          <p:nvPr/>
        </p:nvSpPr>
        <p:spPr>
          <a:xfrm>
            <a:off x="3200400" y="2157984"/>
            <a:ext cx="8229600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0" y="2377440"/>
            <a:ext cx="84124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他抱着木箱在海里漂流，直到敌人解除封锁，</a:t>
            </a:r>
            <a:endParaRPr lang="en-US" sz="17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被路过的苏联商船救起——消息才传回延安。</a:t>
            </a:r>
            <a:endParaRPr lang="en-US" sz="17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7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1947 年初，李克农、罗青长等在社会部为他们开了追悼会。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3200400" y="4297680"/>
            <a:ext cx="8229600" cy="1005840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56432" y="4297680"/>
            <a:ext cx="77724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今天我们能站在这里讲她，是因为当年有个人把话带了回来。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10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据天津日报、《文学报》（作家网转载）</a:t>
            </a:r>
            <a:endParaRPr lang="en-US" sz="750" dirty="0"/>
          </a:p>
        </p:txBody>
      </p:sp>
      <p:sp>
        <p:nvSpPr>
          <p:cNvPr id="14" name="Shape 12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35040" y="566928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第四章 · 命中一个词：共存亡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35040" y="969264"/>
            <a:ext cx="557784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2500"/>
              </a:lnSpc>
              <a:buNone/>
            </a:pPr>
            <a:r>
              <a:rPr lang="en-US" sz="14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1981 年 7 月</a:t>
            </a:r>
            <a:endParaRPr lang="en-US" sz="145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牺牲 35 年后，凭罗青长等老同志证明，民政部批准为革命烈士</a:t>
            </a:r>
            <a:endParaRPr lang="en-US" sz="145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1983 年 6 月 20 日</a:t>
            </a:r>
            <a:endParaRPr lang="en-US" sz="145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中央调查部在北京万安公墓举行遗像安放仪式</a:t>
            </a:r>
            <a:endParaRPr lang="en-US" sz="145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5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没有一件遗物。骨灰盒里，只放了一份悼词。</a:t>
            </a:r>
            <a:endParaRPr lang="en-US" sz="145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家乡刘祥庄村立的是衣冠冢。</a:t>
            </a:r>
            <a:endParaRPr lang="en-US" sz="1450" dirty="0"/>
          </a:p>
          <a:p>
            <a:pPr algn="r" indent="0" marL="0">
              <a:lnSpc>
                <a:spcPts val="25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2025 年 12 月 村口 2880 ㎡ 纪念展厅落成，序厅铜像后墙刻着这七个字。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035040" y="4718304"/>
            <a:ext cx="5577840" cy="914400"/>
          </a:xfrm>
          <a:prstGeom prst="rect">
            <a:avLst/>
          </a:prstGeom>
          <a:solidFill>
            <a:srgbClr val="EDE7DA">
              <a:alpha val="90000"/>
            </a:srgbClr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0" y="4718304"/>
            <a:ext cx="53035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7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她的遗物是零，敌人的收获也是零。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11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0" name="Text 8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据天津日报（引王珺 1983 讲话）、中国新闻网、北方网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存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第四章 · 今天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731520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敌人不再登船，他发一份兼职</a:t>
            </a:r>
            <a:endParaRPr lang="en-US" sz="2700" dirty="0"/>
          </a:p>
        </p:txBody>
      </p:sp>
      <p:sp>
        <p:nvSpPr>
          <p:cNvPr id="4" name="Shape 2"/>
          <p:cNvSpPr/>
          <p:nvPr/>
        </p:nvSpPr>
        <p:spPr>
          <a:xfrm>
            <a:off x="566928" y="1755648"/>
            <a:ext cx="6309360" cy="3108960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86384" y="1883664"/>
            <a:ext cx="5852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066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国家安全部微信公众号 · 2025 年 11 月 4 日披露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786384" y="2231136"/>
            <a:ext cx="585216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buNone/>
            </a:pPr>
            <a:r>
              <a:rPr lang="en-US" sz="15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研究生金某 · 实习期</a:t>
            </a:r>
            <a:endParaRPr lang="en-US" sz="14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受境外人员 A 勾联</a:t>
            </a:r>
            <a:endParaRPr lang="en-US" sz="14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以「兼职写材料 · 获取高额报酬」为诱饵</a:t>
            </a:r>
            <a:endParaRPr lang="en-US" sz="14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向其索要涉密资料，并签署「保密协议」</a:t>
            </a:r>
            <a:endParaRPr lang="en-US" sz="14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金某渐失警惕，后主动停止违法行为</a:t>
            </a:r>
            <a:endParaRPr lang="en-US" sz="1450" dirty="0"/>
          </a:p>
          <a:p>
            <a:pPr algn="l" indent="0" marL="0">
              <a:lnSpc>
                <a:spcPts val="2600"/>
              </a:lnSpc>
              <a:buNone/>
            </a:pPr>
            <a:r>
              <a:rPr lang="en-US" sz="14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国安机关认定其未造成危害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66928" y="5029200"/>
            <a:ext cx="63093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00"/>
              </a:lnSpc>
              <a:buNone/>
            </a:pPr>
            <a:r>
              <a:rPr lang="en-US" sz="15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1946 年，敌人要开船、截停、炮击，才拿得到那本密码；</a:t>
            </a:r>
            <a:endParaRPr lang="en-US" sz="1500" dirty="0"/>
          </a:p>
          <a:p>
            <a:pPr algn="l" indent="0" marL="0">
              <a:lnSpc>
                <a:spcPts val="2500"/>
              </a:lnSpc>
              <a:buNone/>
            </a:pPr>
            <a:r>
              <a:rPr lang="en-US" sz="15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今天，一份兼职、一笔报酬、一句「签个保密协议」就够了。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7187184" y="1755648"/>
            <a:ext cx="4425696" cy="2231136"/>
          </a:xfrm>
          <a:prstGeom prst="rect">
            <a:avLst/>
          </a:prstGeom>
          <a:solidFill>
            <a:srgbClr val="E2D9C6"/>
          </a:solidFill>
          <a:ln w="9525">
            <a:solidFill>
              <a:srgbClr val="8A8F94"/>
            </a:solidFill>
            <a:prstDash val="dash"/>
          </a:ln>
        </p:spPr>
      </p:sp>
      <p:sp>
        <p:nvSpPr>
          <p:cNvPr id="9" name="Text 7"/>
          <p:cNvSpPr/>
          <p:nvPr/>
        </p:nvSpPr>
        <p:spPr>
          <a:xfrm>
            <a:off x="7315200" y="2286000"/>
            <a:ext cx="416966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真实场景照片位</a:t>
            </a:r>
            <a:endParaRPr lang="en-US" sz="125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sz="12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（待替换：静海展厅实拍 / 4·15 国家安全教育日现场）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7187184" y="4169664"/>
            <a:ext cx="4425696" cy="1682496"/>
          </a:xfrm>
          <a:prstGeom prst="rect">
            <a:avLst/>
          </a:prstGeom>
          <a:solidFill>
            <a:srgbClr val="E2D9C6"/>
          </a:solidFill>
          <a:ln w="6350">
            <a:solidFill>
              <a:srgbClr val="8A8F9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370064" y="4315968"/>
            <a:ext cx="4114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《保守国家秘密法》2024.5.1 施行 · 第 9 条 保密教育纳入国民教育体系</a:t>
            </a:r>
            <a:endParaRPr lang="en-US" sz="11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《密码法》2020.1.1 施行 · 核心 / 普通 / 商用密码</a:t>
            </a:r>
            <a:endParaRPr lang="en-US" sz="11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5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每年 4 月 15 日 全民国家安全教育日</a:t>
            </a:r>
            <a:endParaRPr lang="en-US" sz="115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sz="115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这个展厅，已是静海区的固定教学点。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12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国家安全部 2025-11-04 · 国家保密局法律全文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存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420624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spc="300" kern="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整句读回来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914400"/>
            <a:ext cx="1106424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800"/>
              </a:lnSpc>
              <a:buNone/>
            </a:pPr>
            <a:r>
              <a:rPr lang="en-US" sz="30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为了千百万人能够得到解放，</a:t>
            </a:r>
            <a:endParaRPr lang="en-US" sz="30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30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为了实现共产主义理想，</a:t>
            </a:r>
            <a:endParaRPr lang="en-US" sz="30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3000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宁可牺牲自己的性命，也绝不泄露党的机密，</a:t>
            </a:r>
            <a:endParaRPr lang="en-US" sz="3000" dirty="0"/>
          </a:p>
          <a:p>
            <a:pPr algn="l" indent="0" marL="0">
              <a:lnSpc>
                <a:spcPts val="4800"/>
              </a:lnSpc>
              <a:buNone/>
            </a:pPr>
            <a:r>
              <a:rPr lang="en-US" sz="3000" b="1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誓与密码共存亡！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3346704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066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—— 董健民、钟琪 · 1942 年延安枣园结婚誓词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3877056"/>
            <a:ext cx="11064240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66928" y="4059936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000"/>
              </a:lnSpc>
              <a:buNone/>
            </a:pPr>
            <a:r>
              <a:rPr lang="en-US" sz="1800" b="1" dirty="0">
                <a:solidFill>
                  <a:srgbClr val="2B2F33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1946 年，她把这句话交给了海；今天，我们把这句话交给自己。</a:t>
            </a:r>
            <a:endParaRPr lang="en-US" sz="1800" dirty="0"/>
          </a:p>
          <a:p>
            <a:pPr algn="l" indent="0" marL="0">
              <a:lnSpc>
                <a:spcPts val="3000"/>
              </a:lnSpc>
              <a:buNone/>
            </a:pPr>
            <a:r>
              <a:rPr lang="en-US" sz="1400" dirty="0">
                <a:solidFill>
                  <a:srgbClr val="B4452F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一问：在那艘船上，「把密码交出去」这个选项，是哪一年被关掉的？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66928" y="5431536"/>
            <a:ext cx="110642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谨以此致敬所有隐姓埋名的忠诚卫士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0" y="6528816"/>
            <a:ext cx="12191695" cy="329184"/>
          </a:xfrm>
          <a:prstGeom prst="rect">
            <a:avLst/>
          </a:prstGeom>
          <a:solidFill>
            <a:srgbClr val="E2D9C6"/>
          </a:solidFill>
          <a:ln w="12700">
            <a:solidFill>
              <a:srgbClr val="E2D9C6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0" y="6528816"/>
            <a:ext cx="12191695" cy="0"/>
          </a:xfrm>
          <a:prstGeom prst="line">
            <a:avLst/>
          </a:prstGeom>
          <a:noFill/>
          <a:ln w="9525">
            <a:solidFill>
              <a:srgbClr val="8A8F9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4048" y="655624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小董 · 13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828800" y="6556248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spc="120" kern="0" dirty="0">
                <a:solidFill>
                  <a:srgbClr val="8A8F94"/>
                </a:solidFill>
                <a:latin typeface="Noto Sans SC" pitchFamily="34" charset="0"/>
                <a:ea typeface="Noto Sans SC" pitchFamily="34" charset="-122"/>
                <a:cs typeface="Noto Sans SC" pitchFamily="34" charset="-120"/>
              </a:rPr>
              <a:t>· — · · —   · · — ·   — · · —   · — — ·   — · — —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7132320" y="6556248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A8F9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董健民（1923—1946）· 中共中央社会部机要科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solidFill>
            <a:srgbClr val="B4452F"/>
          </a:solidFill>
          <a:ln w="12700">
            <a:solidFill>
              <a:srgbClr val="B4452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551615" y="657453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4EFE4"/>
                </a:solidFill>
                <a:latin typeface="Noto Serif SC" pitchFamily="34" charset="0"/>
                <a:ea typeface="Noto Serif SC" pitchFamily="34" charset="-122"/>
                <a:cs typeface="Noto Serif SC" pitchFamily="34" charset="-120"/>
              </a:rPr>
              <a:t>亡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誓与密码共存亡</dc:title>
  <dc:subject>PptxGenJS Presentation</dc:subject>
  <dc:creator>思政课「我来讲」</dc:creator>
  <cp:lastModifiedBy>思政课「我来讲」</cp:lastModifiedBy>
  <cp:revision>1</cp:revision>
  <dcterms:created xsi:type="dcterms:W3CDTF">2026-09-30T16:54:10Z</dcterms:created>
  <dcterms:modified xsi:type="dcterms:W3CDTF">2026-09-30T16:54:10Z</dcterms:modified>
</cp:coreProperties>
</file>